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18000"/>
            <a:ext cx="12188952" cy="540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648000"/>
            <a:ext cx="10748952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Credito Salute SQ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440000"/>
            <a:ext cx="10748952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  <a:lnSpc>
                <a:spcPct val="100000"/>
              </a:lnSpc>
            </a:pPr>
            <a:r>
              <a:rPr sz="1600" b="0" i="0">
                <a:solidFill>
                  <a:srgbClr val="E0E8F0"/>
                </a:solidFill>
                <a:latin typeface="Calibri"/>
              </a:rPr>
              <a:t>La spesa quotidiana trasformata in accesso alle cure sanitarie a domicilio.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1980000"/>
            <a:ext cx="10748952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  <a:lnSpc>
                <a:spcPct val="100000"/>
              </a:lnSpc>
            </a:pPr>
            <a:r>
              <a:rPr sz="1300" b="0" i="0">
                <a:solidFill>
                  <a:srgbClr val="D6EEE2"/>
                </a:solidFill>
                <a:latin typeface="Calibri"/>
              </a:rPr>
              <a:t>Un programma di Salute Quotidiana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6138000"/>
            <a:ext cx="36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  <a:lnSpc>
                <a:spcPct val="100000"/>
              </a:lnSpc>
            </a:pPr>
            <a:r>
              <a:rPr sz="1000" b="0" i="0">
                <a:solidFill>
                  <a:srgbClr val="E0E8F0"/>
                </a:solidFill>
                <a:latin typeface="Calibri"/>
              </a:rPr>
              <a:t>Investor Deck  ·  Luglio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64800"/>
            <a:ext cx="11468952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Prima di tutto.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03999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0E8F0"/>
                </a:solidFill>
                <a:latin typeface="Calibri"/>
              </a:rPr>
              <a:t>Perché esiste Salute Quotidiana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900000"/>
            <a:ext cx="10748952" cy="5598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lnSpc>
                <a:spcPct val="110000"/>
              </a:lnSpc>
            </a:pPr>
            <a:r>
              <a:rPr sz="1600" b="1" i="0">
                <a:solidFill>
                  <a:srgbClr val="1A3A5C"/>
                </a:solidFill>
                <a:latin typeface="Calibri"/>
              </a:rPr>
              <a:t>Non siamo nati per competere. Siamo nati per costruire.</a:t>
            </a:r>
          </a:p>
          <a:p>
            <a:pPr algn="l">
              <a:spcAft>
                <a:spcPts val="400"/>
              </a:spcAft>
              <a:lnSpc>
                <a:spcPct val="120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Il sistema ha convinto tutti che il profitto personale fosse l’unico motore possibile. Che il successo di uno significasse la sconfitta di un altro. Ti dicono che è sempre stato così. Che non c’è alternativa.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lnSpc>
                <a:spcPct val="100000"/>
              </a:lnSpc>
            </a:pPr>
            <a:r>
              <a:rPr sz="1400" b="1" i="0">
                <a:solidFill>
                  <a:srgbClr val="1A3A5C"/>
                </a:solidFill>
                <a:latin typeface="Calibri"/>
              </a:rPr>
              <a:t>Non è vero.</a:t>
            </a:r>
          </a:p>
          <a:p>
            <a:pPr algn="l">
              <a:spcAft>
                <a:spcPts val="400"/>
              </a:spcAft>
              <a:lnSpc>
                <a:spcPct val="120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Per secoli le comunità hanno prosperato perché le persone hanno scelto di stare dalla stessa parte. Il macellaio, il farmacista, il bar sotto casa non erano concorrenti — erano parte dello stesso tessuto. Si reggevano a vicenda. Reggevano il quartiere.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lnSpc>
                <a:spcPct val="120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Salute Quotidiana trasforma ogni acquisto quotidiano in credito per cure sanitarie a domicilio. Il valore rimane nella comunità. Nessuno si arricchisce sulle spalle degli altri.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lnSpc>
                <a:spcPct val="100000"/>
              </a:lnSpc>
            </a:pPr>
            <a:r>
              <a:rPr sz="1300" b="1" i="0">
                <a:solidFill>
                  <a:srgbClr val="1A3A5C"/>
                </a:solidFill>
                <a:latin typeface="Calibri"/>
              </a:rPr>
              <a:t>Aderire non è una scelta di marketing. È una scelta di campo.</a:t>
            </a:r>
          </a:p>
          <a:p>
            <a:pPr algn="l">
              <a:spcBef>
                <a:spcPts val="600"/>
              </a:spcBef>
              <a:lnSpc>
                <a:spcPct val="100000"/>
              </a:lnSpc>
            </a:pPr>
            <a:r>
              <a:rPr sz="1400" b="1" i="0">
                <a:solidFill>
                  <a:srgbClr val="2D6A4F"/>
                </a:solidFill>
                <a:latin typeface="Calibri"/>
              </a:rPr>
              <a:t>E che quel mondo comincia dal tuo negozio.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6642001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Credito Salute SQ  ·  Salute Quotidiana  ·  Riservato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4800"/>
            <a:ext cx="11468952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Il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503999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0E8F0"/>
                </a:solidFill>
                <a:latin typeface="Calibri"/>
              </a:rPr>
              <a:t>Tre fratture nel sistema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6642001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Credito Salute SQ  ·  Salute Quotidiana  ·  Riservato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900000"/>
            <a:ext cx="3594984" cy="5562001"/>
          </a:xfrm>
          <a:prstGeom prst="rect">
            <a:avLst/>
          </a:prstGeom>
          <a:solidFill>
            <a:srgbClr val="F0F4F8"/>
          </a:solidFill>
          <a:ln w="144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000" y="900000"/>
            <a:ext cx="3594984" cy="18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000" y="1151999"/>
            <a:ext cx="3378984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1A3A5C"/>
                </a:solidFill>
                <a:latin typeface="Calibri"/>
              </a:rPr>
              <a:t>1 su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" y="1836000"/>
            <a:ext cx="3378984" cy="4446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italiani rinuncia a curarsi
per costi o tempi di attesa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6984" y="900000"/>
            <a:ext cx="3594984" cy="5562001"/>
          </a:xfrm>
          <a:prstGeom prst="rect">
            <a:avLst/>
          </a:prstGeom>
          <a:solidFill>
            <a:srgbClr val="F0F4F8"/>
          </a:solidFill>
          <a:ln w="144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6984" y="900000"/>
            <a:ext cx="3594984" cy="18000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4984" y="1151999"/>
            <a:ext cx="3378984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2E6DA8"/>
                </a:solidFill>
                <a:latin typeface="Calibri"/>
              </a:rPr>
              <a:t>60–180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4984" y="1836000"/>
            <a:ext cx="3378984" cy="4446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giorni di attesa media SSN
per una visita specialistica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53968" y="900000"/>
            <a:ext cx="3594984" cy="5562001"/>
          </a:xfrm>
          <a:prstGeom prst="rect">
            <a:avLst/>
          </a:prstGeom>
          <a:solidFill>
            <a:srgbClr val="F0F4F8"/>
          </a:solidFill>
          <a:ln w="144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53968" y="900000"/>
            <a:ext cx="3594984" cy="180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1968" y="1151999"/>
            <a:ext cx="3378984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2D6A4F"/>
                </a:solidFill>
                <a:latin typeface="Calibri"/>
              </a:rPr>
              <a:t>€ 12 mld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1968" y="1836000"/>
            <a:ext cx="3378984" cy="4446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spesi ogni anno in promozione
locale senza effetto misurabile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6030001"/>
            <a:ext cx="11108952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D6A4F"/>
                </a:solidFill>
                <a:latin typeface="Calibri"/>
              </a:rPr>
              <a:t>C’è un modo per collegare queste due realtà: il budget promozionale degli esercizi locali e il bisogno di salute delle famiglie.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4800"/>
            <a:ext cx="11468952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La soluzione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503999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0E8F0"/>
                </a:solidFill>
                <a:latin typeface="Calibri"/>
              </a:rPr>
              <a:t>Il budget promozionale diventa qualcosa che dura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6642001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Credito Salute SQ  ·  Salute Quotidiana  ·  Riservato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900000"/>
            <a:ext cx="11108952" cy="5598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lnSpc>
                <a:spcPct val="120000"/>
              </a:lnSpc>
            </a:pPr>
            <a:r>
              <a:rPr sz="1400" b="0" i="0">
                <a:solidFill>
                  <a:srgbClr val="333333"/>
                </a:solidFill>
                <a:latin typeface="Calibri"/>
              </a:rPr>
              <a:t>L’esercizio commerciale destina una quota del proprio budget promozionale a un fondo gestito da Salute Quotidiana.</a:t>
            </a:r>
          </a:p>
          <a:p>
            <a:pPr algn="l">
              <a:spcAft>
                <a:spcPts val="1000"/>
              </a:spcAft>
              <a:lnSpc>
                <a:spcPct val="120000"/>
              </a:lnSpc>
            </a:pPr>
            <a:r>
              <a:rPr sz="1400" b="0" i="0">
                <a:solidFill>
                  <a:srgbClr val="333333"/>
                </a:solidFill>
                <a:latin typeface="Calibri"/>
              </a:rPr>
              <a:t>I clienti accumulano Credito SQ con gli acquisti abituali. Il credito è spendibile su prestazioni infermieristiche a domicilio.</a:t>
            </a:r>
          </a:p>
          <a:p>
            <a:pPr algn="l">
              <a:spcAft>
                <a:spcPts val="400"/>
              </a:spcAft>
              <a:lnSpc>
                <a:spcPct val="100000"/>
              </a:lnSpc>
            </a:pPr>
            <a:r>
              <a:rPr sz="1600" b="1" i="0">
                <a:solidFill>
                  <a:srgbClr val="1A3A5C"/>
                </a:solidFill>
                <a:latin typeface="Calibri"/>
              </a:rPr>
              <a:t>Nessun gadget. Nessun volantino.</a:t>
            </a:r>
          </a:p>
          <a:p>
            <a:pPr algn="l">
              <a:spcAft>
                <a:spcPts val="1400"/>
              </a:spcAft>
              <a:lnSpc>
                <a:spcPct val="100000"/>
              </a:lnSpc>
            </a:pPr>
            <a:r>
              <a:rPr sz="1600" b="1" i="0">
                <a:solidFill>
                  <a:srgbClr val="1A3A5C"/>
                </a:solidFill>
                <a:latin typeface="Calibri"/>
              </a:rPr>
              <a:t>Un beneficio concreto, spendibile, vicino alla vita reale delle persone.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" y="5814001"/>
            <a:ext cx="2185790" cy="64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" y="5868001"/>
            <a:ext cx="214979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Acquisto
quotidiano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1790" y="6030001"/>
            <a:ext cx="7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2E6DA8"/>
                </a:solidFill>
                <a:latin typeface="Calibri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15790" y="5814001"/>
            <a:ext cx="2185790" cy="64800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51790" y="5868001"/>
            <a:ext cx="214979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15% della
spesa → Credito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7580" y="6030001"/>
            <a:ext cx="7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2E6DA8"/>
                </a:solidFill>
                <a:latin typeface="Calibri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91580" y="5814001"/>
            <a:ext cx="2185790" cy="64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7580" y="5868001"/>
            <a:ext cx="214979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Prenota
prestazione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3371" y="6030001"/>
            <a:ext cx="7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2E6DA8"/>
                </a:solidFill>
                <a:latin typeface="Calibri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7371" y="5814001"/>
            <a:ext cx="2185790" cy="64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3371" y="5868001"/>
            <a:ext cx="214979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Infermiere
a domicilio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4800"/>
            <a:ext cx="11468952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Come funziona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503999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0E8F0"/>
                </a:solidFill>
                <a:latin typeface="Calibri"/>
              </a:rPr>
              <a:t>Tre ruoli. Un meccanismo semplice.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6642001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Credito Salute SQ  ·  Salute Quotidiana  ·  Riservato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900000"/>
            <a:ext cx="3594984" cy="36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000" y="936000"/>
            <a:ext cx="3450984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Esercizio
commerciale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1296000"/>
            <a:ext cx="3594984" cy="5166001"/>
          </a:xfrm>
          <a:prstGeom prst="rect">
            <a:avLst/>
          </a:prstGeom>
          <a:solidFill>
            <a:srgbClr val="F0F4F8"/>
          </a:solidFill>
          <a:ln w="144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00" y="1386000"/>
            <a:ext cx="3414984" cy="4986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lnSpc>
                <a:spcPct val="110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Stanzia il fondo promozionale</a:t>
            </a:r>
          </a:p>
          <a:p>
            <a:pPr algn="l">
              <a:spcAft>
                <a:spcPts val="500"/>
              </a:spcAft>
              <a:lnSpc>
                <a:spcPct val="110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Espone il materiale informativo</a:t>
            </a:r>
          </a:p>
          <a:p>
            <a:pPr algn="l">
              <a:spcAft>
                <a:spcPts val="500"/>
              </a:spcAft>
              <a:lnSpc>
                <a:spcPct val="110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Invita i clienti a partecipare</a:t>
            </a:r>
          </a:p>
          <a:p>
            <a:pPr algn="l">
              <a:spcAft>
                <a:spcPts val="500"/>
              </a:spcAft>
              <a:lnSpc>
                <a:spcPct val="110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Non gestisce nulla di sanitario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6984" y="900000"/>
            <a:ext cx="3594984" cy="36000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8984" y="936000"/>
            <a:ext cx="3450984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Cliente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6984" y="1296000"/>
            <a:ext cx="3594984" cy="5166001"/>
          </a:xfrm>
          <a:prstGeom prst="rect">
            <a:avLst/>
          </a:prstGeom>
          <a:solidFill>
            <a:srgbClr val="F0F4F8"/>
          </a:solidFill>
          <a:ln w="144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6984" y="1386000"/>
            <a:ext cx="3414984" cy="4986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lnSpc>
                <a:spcPct val="110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Si iscrive alla piattaforma</a:t>
            </a:r>
          </a:p>
          <a:p>
            <a:pPr algn="l">
              <a:spcAft>
                <a:spcPts val="500"/>
              </a:spcAft>
              <a:lnSpc>
                <a:spcPct val="110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Carica gli scontrini via browser</a:t>
            </a:r>
          </a:p>
          <a:p>
            <a:pPr algn="l">
              <a:spcAft>
                <a:spcPts val="500"/>
              </a:spcAft>
              <a:lnSpc>
                <a:spcPct val="110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Accumula Credito SQ verificato</a:t>
            </a:r>
          </a:p>
          <a:p>
            <a:pPr algn="l">
              <a:spcAft>
                <a:spcPts val="500"/>
              </a:spcAft>
              <a:lnSpc>
                <a:spcPct val="110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Usa il credito per le prestazioni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53968" y="900000"/>
            <a:ext cx="3594984" cy="360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5968" y="936000"/>
            <a:ext cx="3450984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Salute Quotidiana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53968" y="1296000"/>
            <a:ext cx="3594984" cy="5166001"/>
          </a:xfrm>
          <a:prstGeom prst="rect">
            <a:avLst/>
          </a:prstGeom>
          <a:solidFill>
            <a:srgbClr val="F0F4F8"/>
          </a:solidFill>
          <a:ln w="144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43968" y="1386000"/>
            <a:ext cx="3414984" cy="4986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lnSpc>
                <a:spcPct val="110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Gestisce iscrizioni e verifiche</a:t>
            </a:r>
          </a:p>
          <a:p>
            <a:pPr algn="l">
              <a:spcAft>
                <a:spcPts val="500"/>
              </a:spcAft>
              <a:lnSpc>
                <a:spcPct val="110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Amministra il fondo</a:t>
            </a:r>
          </a:p>
          <a:p>
            <a:pPr algn="l">
              <a:spcAft>
                <a:spcPts val="500"/>
              </a:spcAft>
              <a:lnSpc>
                <a:spcPct val="110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Organizza le prestazioni</a:t>
            </a:r>
          </a:p>
          <a:p>
            <a:pPr algn="l">
              <a:spcAft>
                <a:spcPts val="500"/>
              </a:spcAft>
              <a:lnSpc>
                <a:spcPct val="110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Produce il report per l’esercizio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4800"/>
            <a:ext cx="11468952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Le prestazioni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503999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0E8F0"/>
                </a:solidFill>
                <a:latin typeface="Calibri"/>
              </a:rPr>
              <a:t>Tutto ciò che si può fare con il Credito SQ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6642001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Credito Salute SQ  ·  Salute Quotidiana  ·  Riservato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900000"/>
            <a:ext cx="5554476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3A5C"/>
                </a:solidFill>
                <a:latin typeface="Calibri"/>
              </a:rPr>
              <a:t>Prestazioni infermieristiche a domicilio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" y="1098000"/>
            <a:ext cx="5446476" cy="21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" y="1126800"/>
            <a:ext cx="4212251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Prestazione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4251" y="1126800"/>
            <a:ext cx="1162224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Costo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1314000"/>
            <a:ext cx="5446476" cy="21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00" y="1342800"/>
            <a:ext cx="4176251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3333"/>
                </a:solidFill>
                <a:latin typeface="Calibri"/>
              </a:rPr>
              <a:t>Iniezione intramuscolare I.M. (su prescrizione)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8251" y="1342800"/>
            <a:ext cx="1162224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A3A5C"/>
                </a:solidFill>
                <a:latin typeface="Calibri"/>
              </a:rPr>
              <a:t>8 €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1530000"/>
            <a:ext cx="5446476" cy="2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00" y="1558800"/>
            <a:ext cx="4176251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3333"/>
                </a:solidFill>
                <a:latin typeface="Calibri"/>
              </a:rPr>
              <a:t>Prelievo ematico periferico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8251" y="1558800"/>
            <a:ext cx="1162224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A3A5C"/>
                </a:solidFill>
                <a:latin typeface="Calibri"/>
              </a:rPr>
              <a:t>10 €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" y="1746000"/>
            <a:ext cx="5446476" cy="21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00" y="1774800"/>
            <a:ext cx="4176251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3333"/>
                </a:solidFill>
                <a:latin typeface="Calibri"/>
              </a:rPr>
              <a:t>Medicazione semplice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88251" y="1774800"/>
            <a:ext cx="1162224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A3A5C"/>
                </a:solidFill>
                <a:latin typeface="Calibri"/>
              </a:rPr>
              <a:t>13 €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0" y="1962000"/>
            <a:ext cx="5446476" cy="2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00" y="1990800"/>
            <a:ext cx="4176251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3333"/>
                </a:solidFill>
                <a:latin typeface="Calibri"/>
              </a:rPr>
              <a:t>Controllo parametri di base + educazione sanitaria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8251" y="1990800"/>
            <a:ext cx="1162224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A3A5C"/>
                </a:solidFill>
                <a:latin typeface="Calibri"/>
              </a:rPr>
              <a:t>16 €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0000" y="2178000"/>
            <a:ext cx="5446476" cy="21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00" y="2206800"/>
            <a:ext cx="4176251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3333"/>
                </a:solidFill>
                <a:latin typeface="Calibri"/>
              </a:rPr>
              <a:t>Prelievo arterioso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8251" y="2206800"/>
            <a:ext cx="1162224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A3A5C"/>
                </a:solidFill>
                <a:latin typeface="Calibri"/>
              </a:rPr>
              <a:t>20 €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0000" y="2394000"/>
            <a:ext cx="5446476" cy="2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00" y="2422800"/>
            <a:ext cx="4176251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3333"/>
                </a:solidFill>
                <a:latin typeface="Calibri"/>
              </a:rPr>
              <a:t>Gestione medicazione tracheostomia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8251" y="2422800"/>
            <a:ext cx="1162224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A3A5C"/>
                </a:solidFill>
                <a:latin typeface="Calibri"/>
              </a:rPr>
              <a:t>30 €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02476" y="900000"/>
            <a:ext cx="5554476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D6A4F"/>
                </a:solidFill>
                <a:latin typeface="Calibri"/>
              </a:rPr>
              <a:t>Telemedicina a domicilio (in arrivo)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02476" y="1098000"/>
            <a:ext cx="5446476" cy="216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8476" y="1126800"/>
            <a:ext cx="4212251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Prestazione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86727" y="1126800"/>
            <a:ext cx="1162224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Costo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02476" y="1314000"/>
            <a:ext cx="5446476" cy="21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38476" y="1342800"/>
            <a:ext cx="4176251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3333"/>
                </a:solidFill>
                <a:latin typeface="Calibri"/>
              </a:rPr>
              <a:t>ECG a 12 derivazioni (telemedicina)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50727" y="1342800"/>
            <a:ext cx="1162224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A3A5C"/>
                </a:solidFill>
                <a:latin typeface="Calibri"/>
              </a:rPr>
              <a:t>25 €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02476" y="1530000"/>
            <a:ext cx="5446476" cy="2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38476" y="1558800"/>
            <a:ext cx="4176251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3333"/>
                </a:solidFill>
                <a:latin typeface="Calibri"/>
              </a:rPr>
              <a:t>Holter ECG 24h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50727" y="1558800"/>
            <a:ext cx="1162224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A3A5C"/>
                </a:solidFill>
                <a:latin typeface="Calibri"/>
              </a:rPr>
              <a:t>45 €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02476" y="1746000"/>
            <a:ext cx="5446476" cy="21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38476" y="1774800"/>
            <a:ext cx="4176251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3333"/>
                </a:solidFill>
                <a:latin typeface="Calibri"/>
              </a:rPr>
              <a:t>Holter Pressorio 24h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50727" y="1774800"/>
            <a:ext cx="1162224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A3A5C"/>
                </a:solidFill>
                <a:latin typeface="Calibri"/>
              </a:rPr>
              <a:t>40 €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02476" y="1962000"/>
            <a:ext cx="5446476" cy="2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38476" y="1990800"/>
            <a:ext cx="4176251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3333"/>
                </a:solidFill>
                <a:latin typeface="Calibri"/>
              </a:rPr>
              <a:t>Spirometria semplice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50727" y="1990800"/>
            <a:ext cx="1162224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A3A5C"/>
                </a:solidFill>
                <a:latin typeface="Calibri"/>
              </a:rPr>
              <a:t>30 €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4800"/>
            <a:ext cx="11468952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Modello di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503999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0E8F0"/>
                </a:solidFill>
                <a:latin typeface="Calibri"/>
              </a:rPr>
              <a:t>Come genera valore per tutte le parti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6642001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Credito Salute SQ  ·  Salute Quotidiana  ·  Riservato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008000"/>
            <a:ext cx="3594984" cy="39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000" y="1044000"/>
            <a:ext cx="3486984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Esercente
versa il fondo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5954" y="1008000"/>
            <a:ext cx="3594984" cy="396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9954" y="1044000"/>
            <a:ext cx="3486984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20% → Salute
Quotidiana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71908" y="1008000"/>
            <a:ext cx="3594984" cy="39600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5908" y="1044000"/>
            <a:ext cx="3486984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80% →
Professionista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1620000"/>
            <a:ext cx="2687238" cy="4842001"/>
          </a:xfrm>
          <a:prstGeom prst="rect">
            <a:avLst/>
          </a:prstGeom>
          <a:solidFill>
            <a:srgbClr val="F0F4F8"/>
          </a:solidFill>
          <a:ln w="144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0000" y="1620000"/>
            <a:ext cx="2687238" cy="125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000" y="1800000"/>
            <a:ext cx="2543238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33333"/>
                </a:solidFill>
                <a:latin typeface="Calibri"/>
              </a:rPr>
              <a:t>Fondo tipico
per esercente/ciclo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000" y="2304000"/>
            <a:ext cx="2543238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1A3A5C"/>
                </a:solidFill>
                <a:latin typeface="Calibri"/>
              </a:rPr>
              <a:t>1.000 €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000" y="2700000"/>
            <a:ext cx="2543238" cy="36180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1">
                <a:solidFill>
                  <a:srgbClr val="333333"/>
                </a:solidFill>
                <a:latin typeface="Calibri"/>
              </a:rPr>
              <a:t>fisso, zero variabile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46038" y="1620000"/>
            <a:ext cx="2687238" cy="4842001"/>
          </a:xfrm>
          <a:prstGeom prst="rect">
            <a:avLst/>
          </a:prstGeom>
          <a:solidFill>
            <a:srgbClr val="F0F4F8"/>
          </a:solidFill>
          <a:ln w="144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46038" y="1620000"/>
            <a:ext cx="2687238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8038" y="1800000"/>
            <a:ext cx="2543238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33333"/>
                </a:solidFill>
                <a:latin typeface="Calibri"/>
              </a:rPr>
              <a:t>Ricavo SQ
per esercente/mese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8038" y="2304000"/>
            <a:ext cx="2543238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2D6A4F"/>
                </a:solidFill>
                <a:latin typeface="Calibri"/>
              </a:rPr>
              <a:t>150 €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8038" y="2700000"/>
            <a:ext cx="2543238" cy="36180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1">
                <a:solidFill>
                  <a:srgbClr val="333333"/>
                </a:solidFill>
                <a:latin typeface="Calibri"/>
              </a:rPr>
              <a:t>media su utilizzo 75%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52076" y="1620000"/>
            <a:ext cx="2687238" cy="4842001"/>
          </a:xfrm>
          <a:prstGeom prst="rect">
            <a:avLst/>
          </a:prstGeom>
          <a:solidFill>
            <a:srgbClr val="F0F4F8"/>
          </a:solidFill>
          <a:ln w="144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52076" y="1620000"/>
            <a:ext cx="2687238" cy="125999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24076" y="1800000"/>
            <a:ext cx="2543238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33333"/>
                </a:solidFill>
                <a:latin typeface="Calibri"/>
              </a:rPr>
              <a:t>Ciclo
standard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24076" y="2304000"/>
            <a:ext cx="2543238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2E6DA8"/>
                </a:solidFill>
                <a:latin typeface="Calibri"/>
              </a:rPr>
              <a:t>30 giorni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24076" y="2700000"/>
            <a:ext cx="2543238" cy="36180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1">
                <a:solidFill>
                  <a:srgbClr val="333333"/>
                </a:solidFill>
                <a:latin typeface="Calibri"/>
              </a:rPr>
              <a:t>renovabile ogni mese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58114" y="1620000"/>
            <a:ext cx="2687238" cy="4842001"/>
          </a:xfrm>
          <a:prstGeom prst="rect">
            <a:avLst/>
          </a:prstGeom>
          <a:solidFill>
            <a:srgbClr val="F0F4F8"/>
          </a:solidFill>
          <a:ln w="144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58114" y="1620000"/>
            <a:ext cx="2687238" cy="125999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30114" y="1800000"/>
            <a:ext cx="2543238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33333"/>
                </a:solidFill>
                <a:latin typeface="Calibri"/>
              </a:rPr>
              <a:t>Clienti per
ciclo pilot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30114" y="2304000"/>
            <a:ext cx="2543238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2E6DA8"/>
                </a:solidFill>
                <a:latin typeface="Calibri"/>
              </a:rPr>
              <a:t>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30114" y="2700000"/>
            <a:ext cx="2543238" cy="36180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1">
                <a:solidFill>
                  <a:srgbClr val="333333"/>
                </a:solidFill>
                <a:latin typeface="Calibri"/>
              </a:rPr>
              <a:t>scalabile senza limite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4800"/>
            <a:ext cx="11468952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Il mercato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503999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0E8F0"/>
                </a:solidFill>
                <a:latin typeface="Calibri"/>
              </a:rPr>
              <a:t>TAM / SAM / SOM — Italia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6642001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Credito Salute SQ  ·  Salute Quotidiana  ·  Riservato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900000"/>
            <a:ext cx="144000" cy="1722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6000" y="936000"/>
            <a:ext cx="432000" cy="16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3A5C"/>
                </a:solidFill>
                <a:latin typeface="Calibri"/>
              </a:rPr>
              <a:t>TAM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4000" y="936000"/>
            <a:ext cx="444358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3A5C"/>
                </a:solidFill>
                <a:latin typeface="Calibri"/>
              </a:rPr>
              <a:t>Spesa privata sanitaria Italia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4476" y="918000"/>
            <a:ext cx="2777238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1A3A5C"/>
                </a:solidFill>
                <a:latin typeface="Calibri"/>
              </a:rPr>
              <a:t>40 mld €/anno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4000" y="1206000"/>
            <a:ext cx="10604953" cy="13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33333"/>
                </a:solidFill>
                <a:latin typeface="Calibri"/>
              </a:rPr>
              <a:t>Intero mercato privato: visite, diagnostica, domiciliare.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000" y="2712000"/>
            <a:ext cx="144000" cy="172200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6000" y="2748000"/>
            <a:ext cx="432000" cy="16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6DA8"/>
                </a:solidFill>
                <a:latin typeface="Calibri"/>
              </a:rPr>
              <a:t>SAM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4000" y="2748000"/>
            <a:ext cx="444358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3A5C"/>
                </a:solidFill>
                <a:latin typeface="Calibri"/>
              </a:rPr>
              <a:t>Home nursing + Telemedicina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4476" y="2730000"/>
            <a:ext cx="2777238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2E6DA8"/>
                </a:solidFill>
                <a:latin typeface="Calibri"/>
              </a:rPr>
              <a:t>2 mld €/anno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4000" y="3018000"/>
            <a:ext cx="10604953" cy="13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33333"/>
                </a:solidFill>
                <a:latin typeface="Calibri"/>
              </a:rPr>
              <a:t>Segmento infermieristico domiciliare e telemedicina.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" y="4524000"/>
            <a:ext cx="144000" cy="1722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6000" y="4560000"/>
            <a:ext cx="432000" cy="16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6A4F"/>
                </a:solidFill>
                <a:latin typeface="Calibri"/>
              </a:rPr>
              <a:t>SOM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4000" y="4560000"/>
            <a:ext cx="444358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3A5C"/>
                </a:solidFill>
                <a:latin typeface="Calibri"/>
              </a:rPr>
              <a:t>Mercato raggiungibile Y3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4476" y="4542000"/>
            <a:ext cx="2777238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2D6A4F"/>
                </a:solidFill>
                <a:latin typeface="Calibri"/>
              </a:rPr>
              <a:t>15 mln €/anno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4000" y="4830000"/>
            <a:ext cx="10604953" cy="13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33333"/>
                </a:solidFill>
                <a:latin typeface="Calibri"/>
              </a:rPr>
              <a:t>Esercizi locali partner in Sicilia/Sud Italia, 3–5 anni.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00" y="6282001"/>
            <a:ext cx="1110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D6A4F"/>
                </a:solidFill>
                <a:latin typeface="Calibri"/>
              </a:rPr>
              <a:t>Obiettivo Anno 3: 60 esercenti attivi → €108.000 ricavi SQ (0,72% del SOM)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4800"/>
            <a:ext cx="11468952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La piattaforma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503999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0E8F0"/>
                </a:solidFill>
                <a:latin typeface="Calibri"/>
              </a:rPr>
              <a:t>Web app operativa — nessuna installazione richiesta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6642001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Credito Salute SQ  ·  Salute Quotidiana  ·  Riservato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900000"/>
            <a:ext cx="4665759" cy="5598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lnSpc>
                <a:spcPct val="100000"/>
              </a:lnSpc>
            </a:pPr>
            <a:r>
              <a:rPr sz="1400" b="1" i="0">
                <a:solidFill>
                  <a:srgbClr val="1A3A5C"/>
                </a:solidFill>
                <a:latin typeface="Calibri"/>
              </a:rPr>
              <a:t>Il sistema è già operativo.</a:t>
            </a:r>
          </a:p>
          <a:p>
            <a:pPr algn="l">
              <a:spcAft>
                <a:spcPts val="400"/>
              </a:spcAft>
              <a:lnSpc>
                <a:spcPct val="100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Accessibile da qualsiasi smartphone via browser.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lnSpc>
                <a:spcPct val="100000"/>
              </a:lnSpc>
            </a:pPr>
            <a:r>
              <a:rPr sz="1200" b="1" i="0">
                <a:solidFill>
                  <a:srgbClr val="333333"/>
                </a:solidFill>
                <a:latin typeface="Calibri"/>
              </a:rPr>
              <a:t>Tre viste dedicate:</a:t>
            </a:r>
          </a:p>
          <a:p>
            <a:pPr algn="l">
              <a:spcAft>
                <a:spcPts val="300"/>
              </a:spcAft>
              <a:lnSpc>
                <a:spcPct val="110000"/>
              </a:lnSpc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 Cliente — saldo, scontrini, prenotazione</a:t>
            </a:r>
          </a:p>
          <a:p>
            <a:pPr algn="l">
              <a:spcAft>
                <a:spcPts val="300"/>
              </a:spcAft>
              <a:lnSpc>
                <a:spcPct val="110000"/>
              </a:lnSpc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 Esercente — report, clienti, fondo</a:t>
            </a:r>
          </a:p>
          <a:p>
            <a:pPr algn="l">
              <a:spcAft>
                <a:spcPts val="300"/>
              </a:spcAft>
              <a:lnSpc>
                <a:spcPct val="110000"/>
              </a:lnSpc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 Admin SQ — validazioni, analytics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lnSpc>
                <a:spcPct val="100000"/>
              </a:lnSpc>
            </a:pPr>
            <a:r>
              <a:rPr sz="1100" b="0" i="1">
                <a:solidFill>
                  <a:srgbClr val="2E6DA8"/>
                </a:solidFill>
                <a:latin typeface="Calibri"/>
              </a:rPr>
              <a:t>Stack: Next.js 14 + Supabase (PostgreSQL)</a:t>
            </a:r>
          </a:p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2E6DA8"/>
                </a:solidFill>
                <a:latin typeface="Calibri"/>
              </a:rPr>
              <a:t>Deploy: Vercel (SLA 99,9%)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39028" y="900000"/>
            <a:ext cx="2036641" cy="5490001"/>
          </a:xfrm>
          <a:prstGeom prst="rect">
            <a:avLst/>
          </a:prstGeom>
          <a:solidFill>
            <a:srgbClr val="FFFFFF"/>
          </a:solidFill>
          <a:ln w="180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39028" y="900000"/>
            <a:ext cx="2036641" cy="19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5028" y="928800"/>
            <a:ext cx="1964641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WALLET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67828" y="1134000"/>
            <a:ext cx="1979041" cy="55705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93028" y="1152000"/>
            <a:ext cx="1928641" cy="5570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>
                <a:solidFill>
                  <a:srgbClr val="1A3A5C"/>
                </a:solidFill>
                <a:latin typeface="Calibri"/>
              </a:rPr>
              <a:t>Saldo: 12,50 Credito SQ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67828" y="1691052"/>
            <a:ext cx="1979041" cy="5570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93028" y="1709052"/>
            <a:ext cx="1928641" cy="5570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B7770D"/>
                </a:solidFill>
                <a:latin typeface="Calibri"/>
              </a:rPr>
              <a:t>In verifica: 3,50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67828" y="2470926"/>
            <a:ext cx="1979041" cy="5570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93028" y="2488926"/>
            <a:ext cx="1928641" cy="5570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FFFFFF"/>
                </a:solidFill>
                <a:latin typeface="Calibri"/>
              </a:rPr>
              <a:t>CARICA SCONTRINO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67828" y="3250800"/>
            <a:ext cx="1979041" cy="5570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93028" y="3268800"/>
            <a:ext cx="1928641" cy="5570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333333"/>
                </a:solidFill>
                <a:latin typeface="Calibri"/>
              </a:rPr>
              <a:t>Farmacia  +2,40 SQ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67828" y="3807853"/>
            <a:ext cx="1979041" cy="5570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93028" y="3825853"/>
            <a:ext cx="1928641" cy="5570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333333"/>
                </a:solidFill>
                <a:latin typeface="Calibri"/>
              </a:rPr>
              <a:t>Bar       +0,80 SQ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67828" y="4364905"/>
            <a:ext cx="1979041" cy="5570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93028" y="4382905"/>
            <a:ext cx="1928641" cy="5570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333333"/>
                </a:solidFill>
                <a:latin typeface="Calibri"/>
              </a:rPr>
              <a:t>Supermercato +1,50 SQ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65669" y="900000"/>
            <a:ext cx="2036641" cy="5490001"/>
          </a:xfrm>
          <a:prstGeom prst="rect">
            <a:avLst/>
          </a:prstGeom>
          <a:solidFill>
            <a:srgbClr val="FFFFFF"/>
          </a:solidFill>
          <a:ln w="18000">
            <a:solidFill>
              <a:srgbClr val="2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65669" y="900000"/>
            <a:ext cx="2036641" cy="19800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01669" y="928800"/>
            <a:ext cx="1964641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PRENOTA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4469" y="1134000"/>
            <a:ext cx="1979041" cy="55705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19669" y="1152000"/>
            <a:ext cx="1928641" cy="5570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>
                <a:solidFill>
                  <a:srgbClr val="1A3A5C"/>
                </a:solidFill>
                <a:latin typeface="Calibri"/>
              </a:rPr>
              <a:t>Saldo: 12,50 SQ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94469" y="1913873"/>
            <a:ext cx="1979041" cy="557052"/>
          </a:xfrm>
          <a:prstGeom prst="rect">
            <a:avLst/>
          </a:prstGeom>
          <a:solidFill>
            <a:srgbClr val="D6E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19669" y="1931873"/>
            <a:ext cx="1928641" cy="5570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>
                <a:solidFill>
                  <a:srgbClr val="2D6A4F"/>
                </a:solidFill>
                <a:latin typeface="Calibri"/>
              </a:rPr>
              <a:t>✓ Iniezione I.M.   8 SQ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94469" y="2470926"/>
            <a:ext cx="1979041" cy="557052"/>
          </a:xfrm>
          <a:prstGeom prst="rect">
            <a:avLst/>
          </a:prstGeom>
          <a:solidFill>
            <a:srgbClr val="D6E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19669" y="2488926"/>
            <a:ext cx="1928641" cy="5570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>
                <a:solidFill>
                  <a:srgbClr val="2D6A4F"/>
                </a:solidFill>
                <a:latin typeface="Calibri"/>
              </a:rPr>
              <a:t>✓ Prelievo        10 SQ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94469" y="3027979"/>
            <a:ext cx="1979041" cy="557052"/>
          </a:xfrm>
          <a:prstGeom prst="rect">
            <a:avLst/>
          </a:prstGeom>
          <a:solidFill>
            <a:srgbClr val="D6E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19669" y="3045979"/>
            <a:ext cx="1928641" cy="5570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>
                <a:solidFill>
                  <a:srgbClr val="2D6A4F"/>
                </a:solidFill>
                <a:latin typeface="Calibri"/>
              </a:rPr>
              <a:t>✓ Medicazione     13 SQ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94469" y="3585032"/>
            <a:ext cx="1979041" cy="5570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19669" y="3603032"/>
            <a:ext cx="1928641" cy="5570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333333"/>
                </a:solidFill>
                <a:latin typeface="Calibri"/>
              </a:rPr>
              <a:t>  Controllo       16 SQ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94469" y="4142084"/>
            <a:ext cx="1979041" cy="5570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19669" y="4160084"/>
            <a:ext cx="1928641" cy="5570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333333"/>
                </a:solidFill>
                <a:latin typeface="Calibri"/>
              </a:rPr>
              <a:t>  Prelievo art.   20 SQ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94469" y="4921958"/>
            <a:ext cx="1979041" cy="557052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19669" y="4939958"/>
            <a:ext cx="1928641" cy="5570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FFFFFF"/>
                </a:solidFill>
                <a:latin typeface="Calibri"/>
              </a:rPr>
              <a:t>PRENOTA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92310" y="900000"/>
            <a:ext cx="2036641" cy="5490001"/>
          </a:xfrm>
          <a:prstGeom prst="rect">
            <a:avLst/>
          </a:prstGeom>
          <a:solidFill>
            <a:srgbClr val="FFFFFF"/>
          </a:solidFill>
          <a:ln w="180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792310" y="900000"/>
            <a:ext cx="2036641" cy="19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28310" y="928800"/>
            <a:ext cx="1964641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CONFERMA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21110" y="1134000"/>
            <a:ext cx="1979041" cy="557052"/>
          </a:xfrm>
          <a:prstGeom prst="rect">
            <a:avLst/>
          </a:prstGeom>
          <a:solidFill>
            <a:srgbClr val="D6E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46310" y="1152000"/>
            <a:ext cx="1928641" cy="5570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2D6A4F"/>
                </a:solidFill>
                <a:latin typeface="Calibri"/>
              </a:rPr>
              <a:t>✓  Confermata!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21110" y="1913873"/>
            <a:ext cx="1979041" cy="55705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46310" y="1931873"/>
            <a:ext cx="1928641" cy="5570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>
                <a:solidFill>
                  <a:srgbClr val="1A3A5C"/>
                </a:solidFill>
                <a:latin typeface="Calibri"/>
              </a:rPr>
              <a:t>Prelievo periferico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821110" y="2470926"/>
            <a:ext cx="1979041" cy="5570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46310" y="2488926"/>
            <a:ext cx="1928641" cy="5570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333333"/>
                </a:solidFill>
                <a:latin typeface="Calibri"/>
              </a:rPr>
              <a:t>Infermiere: Mario R.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821110" y="3250800"/>
            <a:ext cx="1979041" cy="5570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46310" y="3268800"/>
            <a:ext cx="1928641" cy="5570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333333"/>
                </a:solidFill>
                <a:latin typeface="Calibri"/>
              </a:rPr>
              <a:t>Mer 16/03  —  ore 09:30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21110" y="3807853"/>
            <a:ext cx="1979041" cy="5570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46310" y="3825853"/>
            <a:ext cx="1928641" cy="5570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333333"/>
                </a:solidFill>
                <a:latin typeface="Calibri"/>
              </a:rPr>
              <a:t>A domicilio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821110" y="4587726"/>
            <a:ext cx="1979041" cy="557052"/>
          </a:xfrm>
          <a:prstGeom prst="rect">
            <a:avLst/>
          </a:prstGeom>
          <a:solidFill>
            <a:srgbClr val="D6E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46310" y="4605726"/>
            <a:ext cx="1928641" cy="5570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>
                <a:solidFill>
                  <a:srgbClr val="2D6A4F"/>
                </a:solidFill>
                <a:latin typeface="Calibri"/>
              </a:rPr>
              <a:t>Usati: 10 SQ  |  Residuo: 2,50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4800"/>
            <a:ext cx="11468952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Il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503999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0E8F0"/>
                </a:solidFill>
                <a:latin typeface="Calibri"/>
              </a:rPr>
              <a:t>Dati reali da un test reale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6642001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Credito Salute SQ  ·  Salute Quotidiana  ·  Riservato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900000"/>
            <a:ext cx="2669238" cy="90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000" y="972000"/>
            <a:ext cx="2561238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000" y="1440000"/>
            <a:ext cx="2561238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esercizio
commerciale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3238" y="900000"/>
            <a:ext cx="2669238" cy="90000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7238" y="972000"/>
            <a:ext cx="2561238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7238" y="1440000"/>
            <a:ext cx="2561238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clienti
per ciclo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6476" y="900000"/>
            <a:ext cx="2669238" cy="900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0476" y="972000"/>
            <a:ext cx="2561238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0476" y="1440000"/>
            <a:ext cx="2561238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giorni
di durata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79714" y="900000"/>
            <a:ext cx="2669238" cy="900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33714" y="972000"/>
            <a:ext cx="2561238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1.000 €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33714" y="1440000"/>
            <a:ext cx="2561238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fondo
stanziato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1980000"/>
            <a:ext cx="11108952" cy="4518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lnSpc>
                <a:spcPct val="100000"/>
              </a:lnSpc>
            </a:pPr>
            <a:r>
              <a:rPr sz="1400" b="1" i="0">
                <a:solidFill>
                  <a:srgbClr val="1A3A5C"/>
                </a:solidFill>
                <a:latin typeface="Calibri"/>
              </a:rPr>
              <a:t>Il pilot produce dati concreti:</a:t>
            </a:r>
          </a:p>
          <a:p>
            <a:pPr algn="l">
              <a:spcAft>
                <a:spcPts val="400"/>
              </a:spcAft>
              <a:lnSpc>
                <a:spcPct val="110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quanti clienti si iscrivono e con quale velocità</a:t>
            </a:r>
          </a:p>
          <a:p>
            <a:pPr algn="l">
              <a:spcAft>
                <a:spcPts val="400"/>
              </a:spcAft>
              <a:lnSpc>
                <a:spcPct val="110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quanto credito accumulano e in che tempi</a:t>
            </a:r>
          </a:p>
          <a:p>
            <a:pPr algn="l">
              <a:spcAft>
                <a:spcPts val="400"/>
              </a:spcAft>
              <a:lnSpc>
                <a:spcPct val="110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quali prestazioni scelgono con maggiore frequenza</a:t>
            </a:r>
          </a:p>
          <a:p>
            <a:pPr algn="l">
              <a:spcAft>
                <a:spcPts val="400"/>
              </a:spcAft>
              <a:lnSpc>
                <a:spcPct val="110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tasso di utilizzo del credito accumulato</a:t>
            </a:r>
          </a:p>
          <a:p>
            <a:pPr algn="l">
              <a:spcBef>
                <a:spcPts val="1000"/>
              </a:spcBef>
              <a:lnSpc>
                <a:spcPct val="100000"/>
              </a:lnSpc>
            </a:pPr>
            <a:r>
              <a:rPr sz="1300" b="1" i="0">
                <a:solidFill>
                  <a:srgbClr val="2D6A4F"/>
                </a:solidFill>
                <a:latin typeface="Calibri"/>
              </a:rPr>
              <a:t>Il rischio è contenuto e definito. Il fondo stanziato è il massimo esponibile. Nessun costo variabile aperto.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4800"/>
            <a:ext cx="11468952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Proiezioni finanziarie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503999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0E8F0"/>
                </a:solidFill>
                <a:latin typeface="Calibri"/>
              </a:rPr>
              <a:t>3 anni — scenario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6642001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Credito Salute SQ  ·  Salute Quotidiana  ·  Riservato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900000"/>
            <a:ext cx="11108952" cy="27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943200"/>
            <a:ext cx="3741043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3043" y="943200"/>
            <a:ext cx="240796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Anno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7013" y="943200"/>
            <a:ext cx="240796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Anno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40982" y="943200"/>
            <a:ext cx="240796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Anno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000" y="1170000"/>
            <a:ext cx="11108952" cy="27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000" y="1213200"/>
            <a:ext cx="3705043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3A5C"/>
                </a:solidFill>
                <a:latin typeface="Calibri"/>
              </a:rPr>
              <a:t>Esercenti attivi (media)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3043" y="1213200"/>
            <a:ext cx="237196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7013" y="1213200"/>
            <a:ext cx="237196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33333"/>
                </a:solidFill>
                <a:latin typeface="Calibri"/>
              </a:rP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0982" y="1213200"/>
            <a:ext cx="237196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33333"/>
                </a:solidFill>
                <a:latin typeface="Calibri"/>
              </a:rPr>
              <a:t>60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" y="1440000"/>
            <a:ext cx="11108952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000" y="1483200"/>
            <a:ext cx="3705043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3A5C"/>
                </a:solidFill>
                <a:latin typeface="Calibri"/>
              </a:rPr>
              <a:t>Fondi gestiti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3043" y="1483200"/>
            <a:ext cx="237196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33333"/>
                </a:solidFill>
                <a:latin typeface="Calibri"/>
              </a:rPr>
              <a:t>36.000 €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7013" y="1483200"/>
            <a:ext cx="237196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33333"/>
                </a:solidFill>
                <a:latin typeface="Calibri"/>
              </a:rPr>
              <a:t>240.000 €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0982" y="1483200"/>
            <a:ext cx="237196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33333"/>
                </a:solidFill>
                <a:latin typeface="Calibri"/>
              </a:rPr>
              <a:t>720.000 €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0000" y="1710000"/>
            <a:ext cx="11108952" cy="27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000" y="1753200"/>
            <a:ext cx="3705043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3A5C"/>
                </a:solidFill>
                <a:latin typeface="Calibri"/>
              </a:rPr>
              <a:t>Ricavi SQ (20%)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3043" y="1753200"/>
            <a:ext cx="237196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33333"/>
                </a:solidFill>
                <a:latin typeface="Calibri"/>
              </a:rPr>
              <a:t>7.200 €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97013" y="1753200"/>
            <a:ext cx="237196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33333"/>
                </a:solidFill>
                <a:latin typeface="Calibri"/>
              </a:rPr>
              <a:t>48.000 €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0982" y="1753200"/>
            <a:ext cx="237196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33333"/>
                </a:solidFill>
                <a:latin typeface="Calibri"/>
              </a:rPr>
              <a:t>144.000 €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0000" y="1980000"/>
            <a:ext cx="11108952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000" y="2023200"/>
            <a:ext cx="3705043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3A5C"/>
                </a:solidFill>
                <a:latin typeface="Calibri"/>
              </a:rPr>
              <a:t>Costi operativi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53043" y="2023200"/>
            <a:ext cx="237196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33333"/>
                </a:solidFill>
                <a:latin typeface="Calibri"/>
              </a:rPr>
              <a:t>17.000 €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97013" y="2023200"/>
            <a:ext cx="237196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33333"/>
                </a:solidFill>
                <a:latin typeface="Calibri"/>
              </a:rPr>
              <a:t>28.000 €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0982" y="2023200"/>
            <a:ext cx="237196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33333"/>
                </a:solidFill>
                <a:latin typeface="Calibri"/>
              </a:rPr>
              <a:t>55.000 €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0" y="2250000"/>
            <a:ext cx="11108952" cy="270000"/>
          </a:xfrm>
          <a:prstGeom prst="rect">
            <a:avLst/>
          </a:prstGeom>
          <a:solidFill>
            <a:srgbClr val="D6E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000" y="2293200"/>
            <a:ext cx="3705043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6A4F"/>
                </a:solidFill>
                <a:latin typeface="Calibri"/>
              </a:rPr>
              <a:t>EBITDA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53043" y="2293200"/>
            <a:ext cx="237196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C0392B"/>
                </a:solidFill>
                <a:latin typeface="Calibri"/>
              </a:rPr>
              <a:t>−9.800 €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97013" y="2293200"/>
            <a:ext cx="237196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D6A4F"/>
                </a:solidFill>
                <a:latin typeface="Calibri"/>
              </a:rPr>
              <a:t>+20.000 €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40982" y="2293200"/>
            <a:ext cx="237196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D6A4F"/>
                </a:solidFill>
                <a:latin typeface="Calibri"/>
              </a:rPr>
              <a:t>+89.000 €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0000" y="2664000"/>
            <a:ext cx="11108952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D6A4F"/>
                </a:solidFill>
                <a:latin typeface="Calibri"/>
              </a:rPr>
              <a:t>●  Breakeven previsto: Q3 Anno 2 (~mese 20)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0000" y="2862000"/>
            <a:ext cx="11108952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A3A5C"/>
                </a:solidFill>
                <a:latin typeface="Calibri"/>
              </a:rPr>
              <a:t>●  Nessun costo variabile aperto: rischio cap to fondo stanziato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0000" y="3060000"/>
            <a:ext cx="11108952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3333"/>
                </a:solidFill>
                <a:latin typeface="Calibri"/>
              </a:rPr>
              <a:t>●  Scenario conservativo: 70% utilizzo crediti, 1 ciclo/mese/esercente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4800"/>
            <a:ext cx="11468952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Richiesta di investimento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503999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0E8F0"/>
                </a:solidFill>
                <a:latin typeface="Calibri"/>
              </a:rPr>
              <a:t>Seed round — 20.000 €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6642001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Credito Salute SQ  ·  Salute Quotidiana  ·  Riservato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900000"/>
            <a:ext cx="444358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A3A5C"/>
                </a:solidFill>
                <a:latin typeface="Calibri"/>
              </a:rPr>
              <a:t>20.000 €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1512000"/>
            <a:ext cx="444358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33333"/>
                </a:solidFill>
                <a:latin typeface="Calibri"/>
              </a:rPr>
              <a:t>seed round  —  equity o revenue share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1727999"/>
            <a:ext cx="2669238" cy="4698002"/>
          </a:xfrm>
          <a:prstGeom prst="rect">
            <a:avLst/>
          </a:prstGeom>
          <a:solidFill>
            <a:srgbClr val="F0F4F8"/>
          </a:solidFill>
          <a:ln w="144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0000" y="1727999"/>
            <a:ext cx="2669238" cy="125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000" y="1907999"/>
            <a:ext cx="2525238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3A5C"/>
                </a:solidFill>
                <a:latin typeface="Calibri"/>
              </a:rPr>
              <a:t>Tech &amp; MVP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000" y="2123999"/>
            <a:ext cx="2525238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A3A5C"/>
                </a:solidFill>
                <a:latin typeface="Calibri"/>
              </a:rPr>
              <a:t>5.000 €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000" y="2483999"/>
            <a:ext cx="2525238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33333"/>
                </a:solidFill>
                <a:latin typeface="Calibri"/>
              </a:rPr>
              <a:t>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000" y="2735998"/>
            <a:ext cx="2525238" cy="3618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33333"/>
                </a:solidFill>
                <a:latin typeface="Calibri"/>
              </a:rPr>
              <a:t>Sviluppo web app, integrazione Supabase, testing.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3238" y="1727999"/>
            <a:ext cx="2669238" cy="4698002"/>
          </a:xfrm>
          <a:prstGeom prst="rect">
            <a:avLst/>
          </a:prstGeom>
          <a:solidFill>
            <a:srgbClr val="F0F4F8"/>
          </a:solidFill>
          <a:ln w="144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53238" y="1727999"/>
            <a:ext cx="2669238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5238" y="1907999"/>
            <a:ext cx="2525238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D6A4F"/>
                </a:solidFill>
                <a:latin typeface="Calibri"/>
              </a:rPr>
              <a:t>Operatività Y1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5238" y="2123999"/>
            <a:ext cx="2525238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2D6A4F"/>
                </a:solidFill>
                <a:latin typeface="Calibri"/>
              </a:rPr>
              <a:t>10.000 €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5238" y="2483999"/>
            <a:ext cx="2525238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33333"/>
                </a:solidFill>
                <a:latin typeface="Calibri"/>
              </a:rPr>
              <a:t>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5238" y="2735998"/>
            <a:ext cx="2525238" cy="3618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33333"/>
                </a:solidFill>
                <a:latin typeface="Calibri"/>
              </a:rPr>
              <a:t>Gestione pilot, coordinamento professionisti, admin.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66476" y="1727999"/>
            <a:ext cx="2669238" cy="4698002"/>
          </a:xfrm>
          <a:prstGeom prst="rect">
            <a:avLst/>
          </a:prstGeom>
          <a:solidFill>
            <a:srgbClr val="F0F4F8"/>
          </a:solidFill>
          <a:ln w="144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66476" y="1727999"/>
            <a:ext cx="2669238" cy="125999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8476" y="1907999"/>
            <a:ext cx="2525238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6DA8"/>
                </a:solidFill>
                <a:latin typeface="Calibri"/>
              </a:rPr>
              <a:t>Marketing &amp; BD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8476" y="2123999"/>
            <a:ext cx="2525238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2E6DA8"/>
                </a:solidFill>
                <a:latin typeface="Calibri"/>
              </a:rPr>
              <a:t>3.500 €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8476" y="2483999"/>
            <a:ext cx="2525238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33333"/>
                </a:solidFill>
                <a:latin typeface="Calibri"/>
              </a:rPr>
              <a:t>17,5%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8476" y="2735998"/>
            <a:ext cx="2525238" cy="3618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33333"/>
                </a:solidFill>
                <a:latin typeface="Calibri"/>
              </a:rPr>
              <a:t>Acquisizione esercenti partner, materiali, eventi.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79714" y="1727999"/>
            <a:ext cx="2669238" cy="4698002"/>
          </a:xfrm>
          <a:prstGeom prst="rect">
            <a:avLst/>
          </a:prstGeom>
          <a:solidFill>
            <a:srgbClr val="F0F4F8"/>
          </a:solidFill>
          <a:ln w="144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79714" y="1727999"/>
            <a:ext cx="2669238" cy="125999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1714" y="1907999"/>
            <a:ext cx="2525238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33333"/>
                </a:solidFill>
                <a:latin typeface="Calibri"/>
              </a:rPr>
              <a:t>Contingency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1714" y="2123999"/>
            <a:ext cx="2525238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33333"/>
                </a:solidFill>
                <a:latin typeface="Calibri"/>
              </a:rPr>
              <a:t>1.500 €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1714" y="2483999"/>
            <a:ext cx="2525238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33333"/>
                </a:solidFill>
                <a:latin typeface="Calibri"/>
              </a:rPr>
              <a:t>7,5%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1714" y="2735998"/>
            <a:ext cx="2525238" cy="3618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33333"/>
                </a:solidFill>
                <a:latin typeface="Calibri"/>
              </a:rPr>
              <a:t>Riserva operativa per imprevisti del primo ciclo.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0000" y="6318001"/>
            <a:ext cx="11108952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2D6A4F"/>
                </a:solidFill>
                <a:latin typeface="Calibri"/>
              </a:rPr>
              <a:t>ROI stimato per investitore al 20% equity:  valutazione Y3 ≈ €1.08M  →  quota = €216.000  →  ~10x in 3 anni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4800"/>
            <a:ext cx="11468952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503999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0E8F0"/>
                </a:solidFill>
                <a:latin typeface="Calibri"/>
              </a:rPr>
              <a:t>Dal pilot alla scala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6642001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Credito Salute SQ  ·  Salute Quotidiana  ·  Riservato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025999"/>
            <a:ext cx="2633238" cy="28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84619" y="936000"/>
            <a:ext cx="180000" cy="18000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134000"/>
            <a:ext cx="2669238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A3A5C"/>
                </a:solidFill>
                <a:latin typeface="Calibri"/>
              </a:rPr>
              <a:t>Q3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000" y="1350000"/>
            <a:ext cx="2669238" cy="5112001"/>
          </a:xfrm>
          <a:prstGeom prst="rect">
            <a:avLst/>
          </a:prstGeom>
          <a:solidFill>
            <a:srgbClr val="F0F4F8"/>
          </a:solidFill>
          <a:ln w="144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0000" y="1350000"/>
            <a:ext cx="2669238" cy="21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000" y="1378800"/>
            <a:ext cx="2561238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000" y="1620000"/>
            <a:ext cx="2561238" cy="4788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lnSpc>
                <a:spcPct val="110000"/>
              </a:lnSpc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 1 esercente, 20 clienti</a:t>
            </a:r>
          </a:p>
          <a:p>
            <a:pPr algn="l">
              <a:spcAft>
                <a:spcPts val="500"/>
              </a:spcAft>
              <a:lnSpc>
                <a:spcPct val="110000"/>
              </a:lnSpc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 30 giorni, fondo €1.000</a:t>
            </a:r>
          </a:p>
          <a:p>
            <a:pPr algn="l">
              <a:spcAft>
                <a:spcPts val="500"/>
              </a:spcAft>
              <a:lnSpc>
                <a:spcPct val="110000"/>
              </a:lnSpc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 Raccolta dati reali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53238" y="1025999"/>
            <a:ext cx="2633238" cy="2880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97857" y="936000"/>
            <a:ext cx="180000" cy="180000"/>
          </a:xfrm>
          <a:prstGeom prst="ellipse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3238" y="1134000"/>
            <a:ext cx="2669238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E6DA8"/>
                </a:solidFill>
                <a:latin typeface="Calibri"/>
              </a:rPr>
              <a:t>Q4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53238" y="1350000"/>
            <a:ext cx="2669238" cy="5112001"/>
          </a:xfrm>
          <a:prstGeom prst="rect">
            <a:avLst/>
          </a:prstGeom>
          <a:solidFill>
            <a:srgbClr val="F0F4F8"/>
          </a:solidFill>
          <a:ln w="144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53238" y="1350000"/>
            <a:ext cx="2669238" cy="21600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7238" y="1378800"/>
            <a:ext cx="2561238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Early Traction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7238" y="1620000"/>
            <a:ext cx="2561238" cy="4788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lnSpc>
                <a:spcPct val="110000"/>
              </a:lnSpc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 3–5 esercenti attivi</a:t>
            </a:r>
          </a:p>
          <a:p>
            <a:pPr algn="l">
              <a:spcAft>
                <a:spcPts val="500"/>
              </a:spcAft>
              <a:lnSpc>
                <a:spcPct val="110000"/>
              </a:lnSpc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 Ottimizzazione onboarding</a:t>
            </a:r>
          </a:p>
          <a:p>
            <a:pPr algn="l">
              <a:spcAft>
                <a:spcPts val="500"/>
              </a:spcAft>
              <a:lnSpc>
                <a:spcPct val="110000"/>
              </a:lnSpc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 Report validazione modello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66476" y="1025999"/>
            <a:ext cx="2633238" cy="288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11095" y="936000"/>
            <a:ext cx="180000" cy="180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66476" y="1134000"/>
            <a:ext cx="2669238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D6A4F"/>
                </a:solidFill>
                <a:latin typeface="Calibri"/>
              </a:rPr>
              <a:t>2027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6476" y="1350000"/>
            <a:ext cx="2669238" cy="5112001"/>
          </a:xfrm>
          <a:prstGeom prst="rect">
            <a:avLst/>
          </a:prstGeom>
          <a:solidFill>
            <a:srgbClr val="F0F4F8"/>
          </a:solidFill>
          <a:ln w="144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66476" y="1350000"/>
            <a:ext cx="2669238" cy="216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20476" y="1378800"/>
            <a:ext cx="2561238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Espansione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20476" y="1620000"/>
            <a:ext cx="2561238" cy="4788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lnSpc>
                <a:spcPct val="110000"/>
              </a:lnSpc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 20 esercenti in Sicilia</a:t>
            </a:r>
          </a:p>
          <a:p>
            <a:pPr algn="l">
              <a:spcAft>
                <a:spcPts val="500"/>
              </a:spcAft>
              <a:lnSpc>
                <a:spcPct val="110000"/>
              </a:lnSpc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 Aggiunta telemedicina</a:t>
            </a:r>
          </a:p>
          <a:p>
            <a:pPr algn="l">
              <a:spcAft>
                <a:spcPts val="500"/>
              </a:spcAft>
              <a:lnSpc>
                <a:spcPct val="110000"/>
              </a:lnSpc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 Breakeven Q2 2027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79714" y="1025999"/>
            <a:ext cx="2633238" cy="288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4333" y="936000"/>
            <a:ext cx="180000" cy="180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79714" y="1134000"/>
            <a:ext cx="2669238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D6A4F"/>
                </a:solidFill>
                <a:latin typeface="Calibri"/>
              </a:rPr>
              <a:t>2028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79714" y="1350000"/>
            <a:ext cx="2669238" cy="5112001"/>
          </a:xfrm>
          <a:prstGeom prst="rect">
            <a:avLst/>
          </a:prstGeom>
          <a:solidFill>
            <a:srgbClr val="F0F4F8"/>
          </a:solidFill>
          <a:ln w="144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79714" y="1350000"/>
            <a:ext cx="2669238" cy="216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33714" y="1378800"/>
            <a:ext cx="2561238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Scala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3714" y="1620000"/>
            <a:ext cx="2561238" cy="4788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lnSpc>
                <a:spcPct val="110000"/>
              </a:lnSpc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 60+ esercenti Sud Italia</a:t>
            </a:r>
          </a:p>
          <a:p>
            <a:pPr algn="l">
              <a:spcAft>
                <a:spcPts val="500"/>
              </a:spcAft>
              <a:lnSpc>
                <a:spcPct val="110000"/>
              </a:lnSpc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 Partnership sanitarie</a:t>
            </a:r>
          </a:p>
          <a:p>
            <a:pPr algn="l">
              <a:spcAft>
                <a:spcPts val="500"/>
              </a:spcAft>
              <a:lnSpc>
                <a:spcPct val="110000"/>
              </a:lnSpc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 Ricavi €144.000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64800"/>
            <a:ext cx="11468952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Il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503999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0E8F0"/>
                </a:solidFill>
                <a:latin typeface="Calibri"/>
              </a:rPr>
              <a:t>Chi c’è dietro Salute Quotidiana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6642001"/>
            <a:ext cx="1146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Credito Salute SQ  ·  Salute Quotidiana  ·  Riservato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900000"/>
            <a:ext cx="4999028" cy="5526001"/>
          </a:xfrm>
          <a:prstGeom prst="rect">
            <a:avLst/>
          </a:prstGeom>
          <a:solidFill>
            <a:srgbClr val="F0F4F8"/>
          </a:solidFill>
          <a:ln w="144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000" y="900000"/>
            <a:ext cx="4999028" cy="162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000" y="1116000"/>
            <a:ext cx="4783028" cy="5382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lnSpc>
                <a:spcPct val="100000"/>
              </a:lnSpc>
            </a:pPr>
            <a:r>
              <a:rPr sz="1800" b="1" i="0">
                <a:solidFill>
                  <a:srgbClr val="1A3A5C"/>
                </a:solidFill>
                <a:latin typeface="Calibri"/>
              </a:rPr>
              <a:t>Angelo Rosso</a:t>
            </a:r>
          </a:p>
          <a:p>
            <a:pPr algn="l">
              <a:spcAft>
                <a:spcPts val="800"/>
              </a:spcAft>
              <a:lnSpc>
                <a:spcPct val="100000"/>
              </a:lnSpc>
            </a:pPr>
            <a:r>
              <a:rPr sz="1300" b="1" i="0">
                <a:solidFill>
                  <a:srgbClr val="2D6A4F"/>
                </a:solidFill>
                <a:latin typeface="Calibri"/>
              </a:rPr>
              <a:t>Fondatore &amp; CEO</a:t>
            </a:r>
          </a:p>
          <a:p>
            <a:pPr algn="l">
              <a:spcAft>
                <a:spcPts val="500"/>
              </a:spcAft>
              <a:lnSpc>
                <a:spcPct val="115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Professionista sanitario con esperienza diretta sul territorio</a:t>
            </a:r>
          </a:p>
          <a:p>
            <a:pPr algn="l">
              <a:spcAft>
                <a:spcPts val="500"/>
              </a:spcAft>
              <a:lnSpc>
                <a:spcPct val="115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Conoscenza operativa del sistema infermieristico domiciliare</a:t>
            </a:r>
          </a:p>
          <a:p>
            <a:pPr algn="l">
              <a:spcAft>
                <a:spcPts val="500"/>
              </a:spcAft>
              <a:lnSpc>
                <a:spcPct val="115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Sviluppo digitale: architettura web app Credito SQ</a:t>
            </a:r>
          </a:p>
          <a:p>
            <a:pPr algn="l">
              <a:spcAft>
                <a:spcPts val="500"/>
              </a:spcAft>
              <a:lnSpc>
                <a:spcPct val="115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Focus: Sicilia orientale (Francofonte, Lentini, Carlentini)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72296" y="900000"/>
            <a:ext cx="5776655" cy="5526001"/>
          </a:xfrm>
          <a:prstGeom prst="rect">
            <a:avLst/>
          </a:prstGeom>
          <a:solidFill>
            <a:srgbClr val="F0F4F8"/>
          </a:solidFill>
          <a:ln w="144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72296" y="900000"/>
            <a:ext cx="5776655" cy="16200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0296" y="1116000"/>
            <a:ext cx="5560655" cy="5382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lnSpc>
                <a:spcPct val="100000"/>
              </a:lnSpc>
            </a:pPr>
            <a:r>
              <a:rPr sz="1400" b="1" i="0">
                <a:solidFill>
                  <a:srgbClr val="2E6DA8"/>
                </a:solidFill>
                <a:latin typeface="Calibri"/>
              </a:rPr>
              <a:t>Profili in ricerca</a:t>
            </a:r>
          </a:p>
          <a:p>
            <a:pPr algn="l">
              <a:spcBef>
                <a:spcPts val="400"/>
              </a:spcBef>
              <a:spcAft>
                <a:spcPts val="100"/>
              </a:spcAft>
              <a:lnSpc>
                <a:spcPct val="100000"/>
              </a:lnSpc>
            </a:pPr>
            <a:r>
              <a:rPr sz="1300" b="1" i="0">
                <a:solidFill>
                  <a:srgbClr val="2E6DA8"/>
                </a:solidFill>
                <a:latin typeface="Calibri"/>
              </a:rPr>
              <a:t>CFO / Advisor finanziario</a:t>
            </a:r>
          </a:p>
          <a:p>
            <a:pPr algn="l">
              <a:spcAft>
                <a:spcPts val="400"/>
              </a:spcAft>
              <a:lnSpc>
                <a:spcPct val="100000"/>
              </a:lnSpc>
            </a:pPr>
            <a:r>
              <a:rPr sz="1200" b="0" i="0">
                <a:solidFill>
                  <a:srgbClr val="333333"/>
                </a:solidFill>
                <a:latin typeface="Calibri"/>
              </a:rPr>
              <a:t>gestione fondi, reporting investitore</a:t>
            </a:r>
          </a:p>
          <a:p>
            <a:pPr algn="l">
              <a:spcBef>
                <a:spcPts val="400"/>
              </a:spcBef>
              <a:spcAft>
                <a:spcPts val="100"/>
              </a:spcAft>
              <a:lnSpc>
                <a:spcPct val="100000"/>
              </a:lnSpc>
            </a:pPr>
            <a:r>
              <a:rPr sz="1300" b="1" i="0">
                <a:solidFill>
                  <a:srgbClr val="2E6DA8"/>
                </a:solidFill>
                <a:latin typeface="Calibri"/>
              </a:rPr>
              <a:t>Partnership manager</a:t>
            </a:r>
          </a:p>
          <a:p>
            <a:pPr algn="l">
              <a:spcAft>
                <a:spcPts val="400"/>
              </a:spcAft>
              <a:lnSpc>
                <a:spcPct val="100000"/>
              </a:lnSpc>
            </a:pPr>
            <a:r>
              <a:rPr sz="1200" b="0" i="0">
                <a:solidFill>
                  <a:srgbClr val="333333"/>
                </a:solidFill>
                <a:latin typeface="Calibri"/>
              </a:rPr>
              <a:t>acquisizione esercenti, contratti</a:t>
            </a:r>
          </a:p>
          <a:p>
            <a:pPr algn="l">
              <a:spcBef>
                <a:spcPts val="400"/>
              </a:spcBef>
              <a:spcAft>
                <a:spcPts val="100"/>
              </a:spcAft>
              <a:lnSpc>
                <a:spcPct val="100000"/>
              </a:lnSpc>
            </a:pPr>
            <a:r>
              <a:rPr sz="1300" b="1" i="0">
                <a:solidFill>
                  <a:srgbClr val="2E6DA8"/>
                </a:solidFill>
                <a:latin typeface="Calibri"/>
              </a:rPr>
              <a:t>Clinical supervisor</a:t>
            </a:r>
          </a:p>
          <a:p>
            <a:pPr algn="l">
              <a:spcAft>
                <a:spcPts val="400"/>
              </a:spcAft>
              <a:lnSpc>
                <a:spcPct val="100000"/>
              </a:lnSpc>
            </a:pPr>
            <a:r>
              <a:rPr sz="1200" b="0" i="0">
                <a:solidFill>
                  <a:srgbClr val="333333"/>
                </a:solidFill>
                <a:latin typeface="Calibri"/>
              </a:rPr>
              <a:t>supervisione qualità prestazioni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18000"/>
            <a:ext cx="12188952" cy="540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540000"/>
            <a:ext cx="10748952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Un modo diverso di stare nel mercato.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368000"/>
            <a:ext cx="10748952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E0E8F0"/>
                </a:solidFill>
                <a:latin typeface="Calibri"/>
              </a:rPr>
              <a:t>Non serve spendere di più. Serve spendere in modo che le persone ricordino — e che faccia qualcosa di concreto per la comunità in cui si lavora.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015999"/>
            <a:ext cx="16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6EEE2"/>
                </a:solidFill>
                <a:latin typeface="Calibri"/>
              </a:rPr>
              <a:t>Email: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8000" y="2015999"/>
            <a:ext cx="930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angelo.rosso073@gmail.com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321999"/>
            <a:ext cx="16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6EEE2"/>
                </a:solidFill>
                <a:latin typeface="Calibri"/>
              </a:rPr>
              <a:t>Programma: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8000" y="2321999"/>
            <a:ext cx="930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Credito Salute SQ · Luglio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2627999"/>
            <a:ext cx="16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6EEE2"/>
                </a:solidFill>
                <a:latin typeface="Calibri"/>
              </a:rPr>
              <a:t>Pilot disponibile: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8000" y="2627999"/>
            <a:ext cx="9308952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da subito — rischio zero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5994000"/>
            <a:ext cx="288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6A4F"/>
                </a:solidFill>
                <a:latin typeface="Calibri"/>
              </a:rPr>
              <a:t>Credito Salute SQ · Salute Quotidiana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