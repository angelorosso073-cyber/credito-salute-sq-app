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6000"/>
            <a:ext cx="12188952" cy="432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900000"/>
            <a:ext cx="1074895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Credito Salute SQ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72000"/>
            <a:ext cx="1074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E8F0"/>
                </a:solidFill>
                <a:latin typeface="Calibri"/>
              </a:rPr>
              <a:t>La spesa di tutti i giorni diventa accesso</a:t>
            </a:r>
            <a:br/>
            <a:r>
              <a:t>a cure infermieristiche a domicilio.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6066000"/>
            <a:ext cx="288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Un programma di Salute Quotidiana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Cosa manca oggi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600" b="1">
                <a:solidFill>
                  <a:srgbClr val="1A3A5C"/>
                </a:solidFill>
                <a:latin typeface="Calibri"/>
              </a:rPr>
              <a:t>Accedere a servizi sanitari semplici è più difficile di quanto dovrebbe essere.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Prelievi, medicazioni, iniezioni, controlli di base sono prestazioni semplici.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Eppure organizzarle richiede tempo, spostamenti e spesso costi che molte famiglie rimandano.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Nel frattempo, ogni esercizio commerciale spende ogni anno in gadget, volantini e omaggi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che i clienti dimenticano nel giro di qualche giorno.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2D6A4F"/>
                </a:solidFill>
                <a:latin typeface="Calibri"/>
              </a:rPr>
              <a:t>C'è un modo per collegare queste due realtà.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La soluzione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Il budget promozionale diventa qualcosa che conta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L'esercizio commerciale destina una quota del proprio budget promozionale a un fondo gestito da Salute Quotidiana.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 clienti accumulano credito con gli acquisti abituali.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Il credito è spendibile su prestazioni infermieristiche a domicilio — per sé o per un familiare convivente.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1A3A5C"/>
                </a:solidFill>
                <a:latin typeface="Calibri"/>
              </a:rPr>
              <a:t>Nessun gadget. Nessun volantino.</a:t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1A3A5C"/>
                </a:solidFill>
                <a:latin typeface="Calibri"/>
              </a:rPr>
              <a:t>Un beneficio concreto, spendibile, vicino alla vita reale delle persone.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Come funziona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Tre ruoli. Un meccanismo semplice.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152000"/>
            <a:ext cx="3558984" cy="3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188000"/>
            <a:ext cx="3486984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Esercizio commerciale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" y="1548000"/>
            <a:ext cx="3558984" cy="495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20000"/>
            <a:ext cx="3414984" cy="48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Stanzia il fondo promozionale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Espone il materiale informativo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Invita i clienti a partecipare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Non gestisce nulla di sanitario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0984" y="1152000"/>
            <a:ext cx="3558984" cy="360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6984" y="1188000"/>
            <a:ext cx="3486984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0984" y="1548000"/>
            <a:ext cx="3558984" cy="495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2984" y="1620000"/>
            <a:ext cx="3414984" cy="48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Si iscrive all'app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Carica gli scontrini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Accumula credito verificato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Usa il credito per le prestazioni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3968" y="1152000"/>
            <a:ext cx="3558984" cy="36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9968" y="1188000"/>
            <a:ext cx="3486984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Salute Quotidiana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3968" y="1548000"/>
            <a:ext cx="3558984" cy="495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5968" y="1620000"/>
            <a:ext cx="3414984" cy="48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Gestisce iscrizioni e verifiche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Gestisce il fondo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Organizza le prestazioni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Produce il report finale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La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I numeri del programma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6109923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3600" b="1">
                <a:solidFill>
                  <a:srgbClr val="1A3A5C"/>
                </a:solidFill>
                <a:latin typeface="Calibri"/>
              </a:rPr>
              <a:t>15%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della spesa valida del cliente → Credito Salute SQ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2800" b="1">
                <a:solidFill>
                  <a:srgbClr val="2D6A4F"/>
                </a:solidFill>
                <a:latin typeface="Calibri"/>
              </a:rPr>
              <a:t>1 euro SQ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= 1 euro di sconto sulle prestazioni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3A5C"/>
                </a:solidFill>
                <a:latin typeface="Calibri"/>
              </a:rPr>
              <a:t>Esempio pratico: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333333"/>
                </a:solidFill>
                <a:latin typeface="Calibri"/>
              </a:rPr>
              <a:t>Un cliente che spende 100 euro al mese accumula 15 euro di Credito SQ.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333333"/>
                </a:solidFill>
                <a:latin typeface="Calibri"/>
              </a:rPr>
              <a:t>In due mesi: prelievo + medicazione a costo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371" y="1152000"/>
            <a:ext cx="4221401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Fondo tipico</a:t>
            </a:r>
          </a:p>
          <a:p>
            <a:r>
              <a:rPr sz="1600" b="1">
                <a:solidFill>
                  <a:srgbClr val="1A3A5C"/>
                </a:solidFill>
                <a:latin typeface="Calibri"/>
              </a:rPr>
              <a:t>1.000 euro</a:t>
            </a:r>
          </a:p>
          <a:p>
            <a:pPr>
              <a:spcBef>
                <a:spcPts val="10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Clienti per ciclo</a:t>
            </a:r>
          </a:p>
          <a:p>
            <a:r>
              <a:rPr sz="1600" b="1">
                <a:solidFill>
                  <a:srgbClr val="1A3A5C"/>
                </a:solidFill>
                <a:latin typeface="Calibri"/>
              </a:rPr>
              <a:t>max 20</a:t>
            </a:r>
          </a:p>
          <a:p>
            <a:pPr>
              <a:spcBef>
                <a:spcPts val="10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Durata ciclo</a:t>
            </a:r>
          </a:p>
          <a:p>
            <a:r>
              <a:rPr sz="1600" b="1">
                <a:solidFill>
                  <a:srgbClr val="1A3A5C"/>
                </a:solidFill>
                <a:latin typeface="Calibri"/>
              </a:rPr>
              <a:t>30 giorni</a:t>
            </a:r>
          </a:p>
          <a:p>
            <a:pPr>
              <a:spcBef>
                <a:spcPts val="10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Tetto per cliente</a:t>
            </a:r>
          </a:p>
          <a:p>
            <a:r>
              <a:rPr sz="1600" b="1">
                <a:solidFill>
                  <a:srgbClr val="1A3A5C"/>
                </a:solidFill>
                <a:latin typeface="Calibri"/>
              </a:rPr>
              <a:t>50 euro SQ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Le prestazioni disponibili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Tutto quello che si può fare con il credito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0000" y="1152000"/>
          <a:ext cx="11108952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476"/>
                <a:gridCol w="5554476"/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Prestazione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Iniezione intramuscolare I.M. (su prescrizione)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8 €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Prelievo ematico periferico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Medicazione semplice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13 €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Controllo parametri di base + educazione sanitaria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16 €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Prelievo arterioso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20 €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Gestione medicazione tracheostomia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Catetere vescicale / cateterismo estemporaneo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35 €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Posizionamento e gestione sondino naso gastrico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40 €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0000" y="6282000"/>
            <a:ext cx="11108952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2D6A4F"/>
                </a:solidFill>
                <a:latin typeface="Calibri"/>
              </a:rPr>
              <a:t>Prestazioni programmate · Non urgenti · Erogate a domicilio da infermiere abilitato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Per l'esercizio commerciale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Cosa cambia per chi aderisce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1A3A5C"/>
                </a:solidFill>
                <a:latin typeface="Calibri"/>
              </a:rPr>
              <a:t>Il budget promozionale già esistente produce un effetto che dura.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 clienti ricordano il servizio perché riguarda qualcosa che conta — non un gadget.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3A5C"/>
                </a:solidFill>
                <a:latin typeface="Calibri"/>
              </a:rPr>
              <a:t>L'impegno è minimo: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→  Firmare il contratto di adesione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→  Versare il fondo promozionale concordato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→  Invitare i clienti con le proprie parole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→  Ricevere il report aggregato a fine periodo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D6A4F"/>
                </a:solidFill>
                <a:latin typeface="Calibri"/>
              </a:rPr>
              <a:t>Tutto il resto lo gestisce Salute Quotidiana.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Per il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Cosa ottiene chi partecipa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1A3A5C"/>
                </a:solidFill>
                <a:latin typeface="Calibri"/>
              </a:rPr>
              <a:t>Credito reale su servizi concreti, accumulato con acquisti già fatti.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Nessun abbonamento. Nessun impegno. Nessuna spesa aggiuntiva.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L'infermiere viene a domicilio, su appuntamento, nel giro di pochi giorni.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Senza organizzare nulla di complicato.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Il credito si può usare anche per un genitore, un nonno, un coniuge convivente.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2D6A4F"/>
                </a:solidFill>
                <a:latin typeface="Calibri"/>
              </a:rPr>
              <a:t>Non è solo un vantaggio personale: è qualcosa da mettere al servizio di chi ci sta vicino.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Perché funziona su 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Il modello è replicabile su qualsiasi esercizio locale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152000"/>
            <a:ext cx="2705238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1188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Bar / Caffetteria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7238" y="1152000"/>
            <a:ext cx="2705238" cy="39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3238" y="1188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Farmacia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152000"/>
            <a:ext cx="2705238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0476" y="1188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Parafarmacia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1714" y="1152000"/>
            <a:ext cx="2705238" cy="39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7714" y="1188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Panificio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1656000"/>
            <a:ext cx="2705238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00" y="1692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Alimentari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7238" y="1656000"/>
            <a:ext cx="2705238" cy="39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3238" y="1692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Palestra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1656000"/>
            <a:ext cx="2705238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0476" y="1692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Tabacchi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71714" y="1656000"/>
            <a:ext cx="2705238" cy="39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07714" y="1692000"/>
            <a:ext cx="2633238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Centro estetico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304000"/>
            <a:ext cx="11108952" cy="41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1">
                <a:solidFill>
                  <a:srgbClr val="2D6A4F"/>
                </a:solidFill>
                <a:latin typeface="Calibri"/>
              </a:rPr>
              <a:t>Stesso meccanismo. Contesto diverso. Qualità costante.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Ogni esercizio porta il proprio fondo e i propri clienti. Salute Quotidiana gestisce tutto.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Il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Dati reali da un test reale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11108952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1A3A5C"/>
                </a:solidFill>
                <a:latin typeface="Calibri"/>
              </a:rPr>
              <a:t>Il primo ciclo del programma è un pilot a scala ridotta: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E6DA8"/>
                </a:solidFill>
                <a:latin typeface="Calibri"/>
              </a:rPr>
              <a:t>un esercizio · 20 clienti · 30 giorni · fondo definito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3A5C"/>
                </a:solidFill>
                <a:latin typeface="Calibri"/>
              </a:rPr>
              <a:t>Il pilot produce dati concreti: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quanti si iscrivono, quanto credito accumulano, quanto ne usano, quali prestazioni scelgono.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Questi dati sono la base per valutare l'espansione del modello.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2D6A4F"/>
                </a:solidFill>
                <a:latin typeface="Calibri"/>
              </a:rPr>
              <a:t>Il rischio è contenuto e definito.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Il fondo stanziato è il massimo esponibile. Nessun costo variabile aperto.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54000"/>
            <a:ext cx="1146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Prossimi passi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40000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0E8F0"/>
                </a:solidFill>
                <a:latin typeface="Calibri"/>
              </a:rPr>
              <a:t>Come aderire o collaborare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88952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6656400"/>
            <a:ext cx="1146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152000"/>
            <a:ext cx="5446476" cy="324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170000"/>
            <a:ext cx="5302476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Esercizio commerciale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530000"/>
            <a:ext cx="5446476" cy="49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1. Incontro di presentazione con Salute Quotidiana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2. Definizione di fondo e durata del ciclo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3. Firma del contratto di adesione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4. Avvio del programma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2476" y="1152000"/>
            <a:ext cx="5446476" cy="324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4476" y="1170000"/>
            <a:ext cx="5302476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Partner / Finanziatore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2476" y="1530000"/>
            <a:ext cx="5446476" cy="49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1. Richiesta risultati del pilot a chiusura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2. Valutazione estensione su uno o più esercizi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3. Definizione accordo di partnership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4. Scalabilità concordata con Salute Quotidiana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6000"/>
            <a:ext cx="12188952" cy="432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720000"/>
            <a:ext cx="1074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Un modo diverso di fare promozione locale.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48000"/>
            <a:ext cx="10748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8F0"/>
                </a:solidFill>
                <a:latin typeface="Calibri"/>
              </a:rPr>
              <a:t>Non serve spendere di più. Serve spendere in modo che le persone ricordino.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088000"/>
            <a:ext cx="2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6A4F"/>
                </a:solidFill>
                <a:latin typeface="Calibri"/>
              </a:rPr>
              <a:t>Credito Salute SQ · Salute Quotidiana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