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CD33FD-2E7E-1632-C9E3-A35AEE22DACB}" v="42" dt="2026-07-22T15:23:23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o Rosso" userId="2457c3efb098ae0d" providerId="Windows Live" clId="Web-{FBCD33FD-2E7E-1632-C9E3-A35AEE22DACB}"/>
    <pc:docChg chg="modSld">
      <pc:chgData name="Angelo Rosso" userId="2457c3efb098ae0d" providerId="Windows Live" clId="Web-{FBCD33FD-2E7E-1632-C9E3-A35AEE22DACB}" dt="2026-07-22T15:23:21.811" v="28" actId="20577"/>
      <pc:docMkLst>
        <pc:docMk/>
      </pc:docMkLst>
      <pc:sldChg chg="modSp">
        <pc:chgData name="Angelo Rosso" userId="2457c3efb098ae0d" providerId="Windows Live" clId="Web-{FBCD33FD-2E7E-1632-C9E3-A35AEE22DACB}" dt="2026-07-22T15:23:21.811" v="28" actId="20577"/>
        <pc:sldMkLst>
          <pc:docMk/>
          <pc:sldMk cId="0" sldId="256"/>
        </pc:sldMkLst>
        <pc:spChg chg="mod">
          <ac:chgData name="Angelo Rosso" userId="2457c3efb098ae0d" providerId="Windows Live" clId="Web-{FBCD33FD-2E7E-1632-C9E3-A35AEE22DACB}" dt="2026-07-22T15:20:45.181" v="1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ngelo Rosso" userId="2457c3efb098ae0d" providerId="Windows Live" clId="Web-{FBCD33FD-2E7E-1632-C9E3-A35AEE22DACB}" dt="2026-07-22T15:20:26.336" v="10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Angelo Rosso" userId="2457c3efb098ae0d" providerId="Windows Live" clId="Web-{FBCD33FD-2E7E-1632-C9E3-A35AEE22DACB}" dt="2026-07-22T15:21:13.416" v="14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ngelo Rosso" userId="2457c3efb098ae0d" providerId="Windows Live" clId="Web-{FBCD33FD-2E7E-1632-C9E3-A35AEE22DACB}" dt="2026-07-22T15:23:21.811" v="28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447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82000"/>
            <a:ext cx="12188952" cy="57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20000" y="1332000"/>
            <a:ext cx="3240000" cy="36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503999"/>
            <a:ext cx="2981778" cy="89255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 Salute SQ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570401"/>
            <a:ext cx="10388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E0E8F0"/>
                </a:solidFill>
                <a:latin typeface="Calibri"/>
              </a:rPr>
              <a:t>La spesa di tutti i giorni diventa accesso
a cure infermieristiche a domicilio.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260040"/>
            <a:ext cx="137549012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it-IT" sz="1300">
                <a:solidFill>
                  <a:srgbClr val="D6EEE2"/>
                </a:solidFill>
                <a:latin typeface="Calibri"/>
              </a:rPr>
              <a:t>Progetto  </a:t>
            </a:r>
            <a:r>
              <a:rPr sz="1300" b="0" i="0">
                <a:solidFill>
                  <a:srgbClr val="D6EEE2"/>
                </a:solidFill>
                <a:latin typeface="Calibri"/>
              </a:rPr>
              <a:t>Salute </a:t>
            </a:r>
            <a:r>
              <a:rPr sz="1300" b="0" i="0" err="1">
                <a:solidFill>
                  <a:srgbClr val="D6EEE2"/>
                </a:solidFill>
                <a:latin typeface="Calibri"/>
              </a:rPr>
              <a:t>Quotidiana</a:t>
            </a:r>
            <a:endParaRPr lang="it-IT" sz="1300" b="0" i="0" err="1">
              <a:solidFill>
                <a:srgbClr val="D6EEE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0000" y="6066000"/>
            <a:ext cx="28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ABBCC"/>
                </a:solidFill>
                <a:latin typeface="Calibri"/>
              </a:rPr>
              <a:t>Luglio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8000" y="72000"/>
            <a:ext cx="11288952" cy="41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Il budget promozionale locale finisce spesso per non lasciare nulla.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486000"/>
            <a:ext cx="11288952" cy="25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Due realtà che non si sono ancora incrociate.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6634801"/>
            <a:ext cx="1128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5482476" cy="5526001"/>
          </a:xfrm>
          <a:prstGeom prst="rect">
            <a:avLst/>
          </a:prstGeom>
          <a:solidFill>
            <a:srgbClr val="E0E8F0"/>
          </a:solidFill>
          <a:ln w="144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0000" y="900000"/>
            <a:ext cx="5482476" cy="18000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000" y="918000"/>
            <a:ext cx="5266476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E6DA8"/>
                </a:solidFill>
                <a:latin typeface="Calibri"/>
              </a:rPr>
              <a:t>OGGI — PROMOZIONE TRADIZIONALE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1224000"/>
            <a:ext cx="5194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52B2B"/>
                </a:solidFill>
                <a:latin typeface="Calibri"/>
              </a:rPr>
              <a:t>❌  Gadget che nessuno usa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1530000"/>
            <a:ext cx="5194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52B2B"/>
                </a:solidFill>
                <a:latin typeface="Calibri"/>
              </a:rPr>
              <a:t>❌  Volantini dimenticati il giorno dopo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1836000"/>
            <a:ext cx="5194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52B2B"/>
                </a:solidFill>
                <a:latin typeface="Calibri"/>
              </a:rPr>
              <a:t>❌  Calendari appesi e poi gettati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" y="2142000"/>
            <a:ext cx="5194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52B2B"/>
                </a:solidFill>
                <a:latin typeface="Calibri"/>
              </a:rPr>
              <a:t>❌  Nessuna traccia, nessun ritorno misurabile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4000" y="2556000"/>
            <a:ext cx="5194476" cy="28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4000" y="2664000"/>
            <a:ext cx="5194476" cy="3690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Budget speso.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33333"/>
                </a:solidFill>
                <a:latin typeface="Calibri"/>
              </a:rPr>
              <a:t>Fidelizzazione zero.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0476" y="3519000"/>
            <a:ext cx="14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E6DA8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6476" y="900000"/>
            <a:ext cx="5482476" cy="5526001"/>
          </a:xfrm>
          <a:prstGeom prst="rect">
            <a:avLst/>
          </a:prstGeom>
          <a:solidFill>
            <a:srgbClr val="D6EEE2"/>
          </a:solidFill>
          <a:ln w="14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6476" y="900000"/>
            <a:ext cx="5482476" cy="18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4476" y="918000"/>
            <a:ext cx="5266476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CON CREDITO SALUTE SQ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0476" y="1224000"/>
            <a:ext cx="5194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Calibri"/>
              </a:rPr>
              <a:t>✔  Credito reale su cure infermieristiche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0476" y="1530000"/>
            <a:ext cx="5194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Calibri"/>
              </a:rPr>
              <a:t>✔  Accumulato con acquisti già abituali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0476" y="1836000"/>
            <a:ext cx="5194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Calibri"/>
              </a:rPr>
              <a:t>✔  Cedibile a chiunque il cliente voglia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0476" y="2142000"/>
            <a:ext cx="5194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Calibri"/>
              </a:rPr>
              <a:t>✔  Report periodico con dati reali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10476" y="2556000"/>
            <a:ext cx="5194476" cy="28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10476" y="2664000"/>
            <a:ext cx="5194476" cy="3690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D6A4F"/>
                </a:solidFill>
                <a:latin typeface="Calibri"/>
              </a:rPr>
              <a:t>Budget reinvestito.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D6A4F"/>
                </a:solidFill>
                <a:latin typeface="Calibri"/>
              </a:rPr>
              <a:t>Fiducia costruita.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8000" y="6634801"/>
            <a:ext cx="1128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ABBCC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0000"/>
            <a:ext cx="3888133" cy="1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0" b="1" i="0">
                <a:solidFill>
                  <a:srgbClr val="2D6A4F"/>
                </a:solidFill>
                <a:latin typeface="Calibri"/>
              </a:rPr>
              <a:t>1 su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548000"/>
            <a:ext cx="3888133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E0E8F0"/>
                </a:solidFill>
                <a:latin typeface="Calibri"/>
              </a:rPr>
              <a:t>italiani rinuncia
a curarsi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1401" y="432000"/>
            <a:ext cx="21600" cy="5958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05759" y="432000"/>
            <a:ext cx="6443192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Non per scarsità di offerta.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5759" y="900000"/>
            <a:ext cx="644319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0E8F0"/>
                </a:solidFill>
                <a:latin typeface="Calibri"/>
              </a:rPr>
              <a:t>Per costi, per i tempi di attesa, per la complessità di organizzare anche una prestazione semplice.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5759" y="1728000"/>
            <a:ext cx="6443192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ABBCC"/>
                </a:solidFill>
                <a:latin typeface="Calibri"/>
              </a:rPr>
              <a:t>Prelievi. Medicazioni. Iniezioni. Controlli di 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02002"/>
            <a:ext cx="12188952" cy="503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000" y="6138001"/>
            <a:ext cx="11288952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Prestazioni tecnicamente semplici. Chi è anziano o ha mobilità ridotta aspetta più di tutti.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8000" y="6634801"/>
            <a:ext cx="1128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ABBCC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80000"/>
            <a:ext cx="1110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Il budget promozionale già esiste.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66000"/>
            <a:ext cx="1110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D6EEE2"/>
                </a:solidFill>
                <a:latin typeface="Calibri"/>
              </a:rPr>
              <a:t>Mancava solo un posto dove farlo atterrare.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7238" y="972000"/>
            <a:ext cx="5554476" cy="216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179" y="1116000"/>
            <a:ext cx="2888327" cy="93600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2179" y="1116000"/>
            <a:ext cx="2888327" cy="180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0179" y="1332000"/>
            <a:ext cx="2672327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Budget
promozionale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179" y="1800000"/>
            <a:ext cx="2672327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ABBCC"/>
                </a:solidFill>
                <a:latin typeface="Calibri"/>
              </a:rPr>
              <a:t>già stanziato
dall'esercizio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0506" y="1440000"/>
            <a:ext cx="777626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E0E8F0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8133" y="1116000"/>
            <a:ext cx="2888327" cy="93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28133" y="1116000"/>
            <a:ext cx="2888327" cy="180000"/>
          </a:xfrm>
          <a:prstGeom prst="rect">
            <a:avLst/>
          </a:prstGeom>
          <a:solidFill>
            <a:srgbClr val="1D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133" y="1332000"/>
            <a:ext cx="2672327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Fondo
Credito SQ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133" y="1800000"/>
            <a:ext cx="2672327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ABBCC"/>
                </a:solidFill>
                <a:latin typeface="Calibri"/>
              </a:rPr>
              <a:t>gestito da
Salute Quotidiana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6460" y="1440000"/>
            <a:ext cx="777626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E0E8F0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4087" y="1116000"/>
            <a:ext cx="2888327" cy="93600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4087" y="1116000"/>
            <a:ext cx="2888327" cy="18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02087" y="1332000"/>
            <a:ext cx="2672327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Cura
a domicilio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087" y="1800000"/>
            <a:ext cx="2672327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ABBCC"/>
                </a:solidFill>
                <a:latin typeface="Calibri"/>
              </a:rPr>
              <a:t>per i clienti
dell'esercizio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2196000"/>
            <a:ext cx="1110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D6EEE2"/>
                </a:solidFill>
                <a:latin typeface="Calibri"/>
              </a:rPr>
              <a:t>Il valore resta nel territorio. Nessun intermediario finanziario.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46001"/>
            <a:ext cx="12188952" cy="360000"/>
          </a:xfrm>
          <a:prstGeom prst="rect">
            <a:avLst/>
          </a:prstGeom>
          <a:solidFill>
            <a:srgbClr val="0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000" y="6274801"/>
            <a:ext cx="11288952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D6EEE2"/>
                </a:solidFill>
                <a:latin typeface="Calibri"/>
              </a:rPr>
              <a:t>Non è un costo diverso. È lo stesso budget che arriva dove conta.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8000" y="72000"/>
            <a:ext cx="11288952" cy="41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15% della spesa diventa credito spendibile su prestazioni reali.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486000"/>
            <a:ext cx="11288952" cy="25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La formula che rende il programma concreto e misurabile.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6634801"/>
            <a:ext cx="1128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3332685" cy="5526001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0000" y="1080000"/>
            <a:ext cx="3332685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124000"/>
            <a:ext cx="311668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D6EEE2"/>
                </a:solidFill>
                <a:latin typeface="Calibri"/>
              </a:rPr>
              <a:t>della spesa
valida
= Credito SQ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5954" y="972000"/>
            <a:ext cx="7442997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3A5C"/>
                </a:solidFill>
                <a:latin typeface="Calibri"/>
              </a:rPr>
              <a:t>•  1 euro SQ  =  1 euro di sconto sulle prestazioni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5954" y="1296000"/>
            <a:ext cx="7442997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Cedibile a chiunque, senza vincoli di parentela o convivenza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5954" y="1620000"/>
            <a:ext cx="7442997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Il fondo è fisso all'avvio: nessun costo variabile per l'esercizio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5954" y="2088000"/>
            <a:ext cx="7442997" cy="4338001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9954" y="2142000"/>
            <a:ext cx="7154997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6EEE2"/>
                </a:solidFill>
                <a:latin typeface="Calibri"/>
              </a:rPr>
              <a:t>ESEMPIO PRATICO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954" y="2376000"/>
            <a:ext cx="7154997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100 euro al mese di spesa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9954" y="2656800"/>
            <a:ext cx="7154997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6EEE2"/>
                </a:solidFill>
                <a:latin typeface="Calibri"/>
              </a:rPr>
              <a:t>→  15 euro SQ al mese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9954" y="2937600"/>
            <a:ext cx="7154997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 2 mesi: prelievo + medicazione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9954" y="3218400"/>
            <a:ext cx="7154997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6EEE2"/>
                </a:solidFill>
                <a:latin typeface="Calibri"/>
              </a:rPr>
              <a:t>a costo zero.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8000" y="72000"/>
            <a:ext cx="11288952" cy="41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Tre ruoli. Zero gestione sanitaria per l'esercizio.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486000"/>
            <a:ext cx="11288952" cy="25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Chi fa cosa — e dove si ferma il coinvolgimento del titolare.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6634801"/>
            <a:ext cx="1128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3594984" cy="43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000" y="936000"/>
            <a:ext cx="3450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Esercizio
commerciale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332000"/>
            <a:ext cx="3594984" cy="5094001"/>
          </a:xfrm>
          <a:prstGeom prst="rect">
            <a:avLst/>
          </a:prstGeom>
          <a:solidFill>
            <a:srgbClr val="FFFFFF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000" y="1440000"/>
            <a:ext cx="3378984" cy="49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Stanzia il fondo promozionale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Espone il materiale informativo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Invita i clienti con parole proprie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Non tocca nulla di sanitario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6102001"/>
            <a:ext cx="3594984" cy="251999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000" y="6138001"/>
            <a:ext cx="3450984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Impegno: 3 azioni. Poi gira da solo.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6984" y="900000"/>
            <a:ext cx="3594984" cy="432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8984" y="936000"/>
            <a:ext cx="3450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6984" y="1332000"/>
            <a:ext cx="3594984" cy="5094001"/>
          </a:xfrm>
          <a:prstGeom prst="rect">
            <a:avLst/>
          </a:prstGeom>
          <a:solidFill>
            <a:srgbClr val="FFFFFF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4984" y="1440000"/>
            <a:ext cx="3378984" cy="49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Si iscrive (una sola volta)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Carica gli scontrini via browser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Accumula Credito SQ verificato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Usa il credito quando vuole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3968" y="900000"/>
            <a:ext cx="3594984" cy="432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25968" y="936000"/>
            <a:ext cx="3450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Salute Quotidiana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3968" y="1332000"/>
            <a:ext cx="3594984" cy="5094001"/>
          </a:xfrm>
          <a:prstGeom prst="rect">
            <a:avLst/>
          </a:prstGeom>
          <a:solidFill>
            <a:srgbClr val="FFFFFF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61968" y="1440000"/>
            <a:ext cx="3378984" cy="49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Gestisce iscrizioni e verifiche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Amministra il fondo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Organizza prenotazioni e prestazioni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Produce il report per l'esercizio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8000" y="72000"/>
            <a:ext cx="11288952" cy="41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Dodici prestazioni a domicilio, raggiungibili con acquisti già abituali.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486000"/>
            <a:ext cx="11288952" cy="25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Erogate da professionista abilitato, su appuntamento.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6634801"/>
            <a:ext cx="1128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900000"/>
            <a:ext cx="5464476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Prestazioni infermieristiche a domicilio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1080000"/>
            <a:ext cx="5464476" cy="208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000" y="1108800"/>
            <a:ext cx="4207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Prestazione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7646" y="11088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Costo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1288800"/>
            <a:ext cx="5464476" cy="20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000" y="13140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Iniezione intramuscolare I.M. (su prescrizione)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7646" y="13140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8 €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1497600"/>
            <a:ext cx="5464476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000" y="15228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Prelievo ematico periferico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7646" y="15228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10 €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1706400"/>
            <a:ext cx="5464476" cy="20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000" y="17316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Medicazione semplice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7646" y="17316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13 €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1915200"/>
            <a:ext cx="5464476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000" y="19404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Controllo parametri + educazione sanitaria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7646" y="19404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16 €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2124000"/>
            <a:ext cx="5464476" cy="20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000" y="21492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Prelievo arterioso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7646" y="21492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20 €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2332800"/>
            <a:ext cx="5464476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000" y="23580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Medicazioni complesse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7646" y="23580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20 €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2541600"/>
            <a:ext cx="5464476" cy="20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000" y="25668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Ulcere ipertrofiche e piede diabetico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7646" y="25668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20 €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2750400"/>
            <a:ext cx="5464476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000" y="27756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Gestione medicazione tracheostomia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7646" y="27756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30 €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000" y="2959200"/>
            <a:ext cx="5464476" cy="20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000" y="29844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Catetere vescicale / cateterismo estemporaneo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7646" y="29844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35 €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0000" y="3168000"/>
            <a:ext cx="5464476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000" y="31932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Gestione PICC (cateteri venosi centrali)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47646" y="31932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35 €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0000" y="3376800"/>
            <a:ext cx="5464476" cy="20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000" y="34020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Posizionamento sondino naso gastrico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47646" y="34020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40 €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0000" y="3585600"/>
            <a:ext cx="5464476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000" y="36108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Posizionamento ago di Huber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47646" y="36108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3A5C"/>
                </a:solidFill>
                <a:latin typeface="Calibri"/>
              </a:rPr>
              <a:t>45 €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4476" y="900000"/>
            <a:ext cx="5464476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D6A4F"/>
                </a:solidFill>
                <a:latin typeface="Calibri"/>
              </a:rPr>
              <a:t>Telemedicina a domicilio (in arrivo)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84476" y="1080000"/>
            <a:ext cx="5464476" cy="208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38476" y="1108800"/>
            <a:ext cx="4207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Prestazione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92122" y="11088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Costo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84476" y="1288800"/>
            <a:ext cx="5464476" cy="20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8476" y="13140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ECG a 12 derivazioni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92122" y="13140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D6A4F"/>
                </a:solidFill>
                <a:latin typeface="Calibri"/>
              </a:rPr>
              <a:t>30 €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84476" y="1497600"/>
            <a:ext cx="5464476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38476" y="15228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Holter ECG 24h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92122" y="15228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D6A4F"/>
                </a:solidFill>
                <a:latin typeface="Calibri"/>
              </a:rPr>
              <a:t>45 €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84476" y="1706400"/>
            <a:ext cx="5464476" cy="20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38476" y="17316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Holter Pressorio 24h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92122" y="17316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D6A4F"/>
                </a:solidFill>
                <a:latin typeface="Calibri"/>
              </a:rPr>
              <a:t>40 €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4476" y="1915200"/>
            <a:ext cx="5464476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38476" y="1940400"/>
            <a:ext cx="4153646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Calibri"/>
              </a:rPr>
              <a:t>Spirometria semplice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92122" y="1940400"/>
            <a:ext cx="1220829" cy="20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D6A4F"/>
                </a:solidFill>
                <a:latin typeface="Calibri"/>
              </a:rPr>
              <a:t>30 €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0000" y="6246001"/>
            <a:ext cx="11108952" cy="30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4000" y="6289201"/>
            <a:ext cx="10820952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 100 €/mese di acquisti abituali: 15 SQ al mese  →  prelievo + medicazione disponibili in 2 mesi, a costo zero.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8000" y="72000"/>
            <a:ext cx="11288952" cy="41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Per l'esercizio: tre passi, poi il programma gira da solo.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486000"/>
            <a:ext cx="11288952" cy="25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L'impegno è minimo. La gestione rimane a Salute Quotidiana.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6634801"/>
            <a:ext cx="1128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9" name="Oval 8"/>
          <p:cNvSpPr/>
          <p:nvPr/>
        </p:nvSpPr>
        <p:spPr>
          <a:xfrm>
            <a:off x="1943546" y="864000"/>
            <a:ext cx="720000" cy="7200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43546" y="918000"/>
            <a:ext cx="720000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837" y="1512000"/>
            <a:ext cx="2999417" cy="1296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3837" y="1512000"/>
            <a:ext cx="2999417" cy="16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1837" y="1764000"/>
            <a:ext cx="2783417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3A5C"/>
                </a:solidFill>
                <a:latin typeface="Calibri"/>
              </a:rPr>
              <a:t>Firma
il contratto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254" y="1871999"/>
            <a:ext cx="527675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E0E8F0"/>
                </a:solidFill>
                <a:latin typeface="Calibri"/>
              </a:rPr>
              <a:t>▶</a:t>
            </a:r>
          </a:p>
        </p:txBody>
      </p:sp>
      <p:sp>
        <p:nvSpPr>
          <p:cNvPr id="15" name="Oval 14"/>
          <p:cNvSpPr/>
          <p:nvPr/>
        </p:nvSpPr>
        <p:spPr>
          <a:xfrm>
            <a:off x="5470638" y="864000"/>
            <a:ext cx="720000" cy="720000"/>
          </a:xfrm>
          <a:prstGeom prst="ellipse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70638" y="918000"/>
            <a:ext cx="720000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0929" y="1512000"/>
            <a:ext cx="2999417" cy="1296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0929" y="1512000"/>
            <a:ext cx="2999417" cy="162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8929" y="1764000"/>
            <a:ext cx="2783417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6DA8"/>
                </a:solidFill>
                <a:latin typeface="Calibri"/>
              </a:rPr>
              <a:t>Versa
il fondo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0346" y="1871999"/>
            <a:ext cx="527675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E0E8F0"/>
                </a:solidFill>
                <a:latin typeface="Calibri"/>
              </a:rPr>
              <a:t>▶</a:t>
            </a:r>
          </a:p>
        </p:txBody>
      </p:sp>
      <p:sp>
        <p:nvSpPr>
          <p:cNvPr id="21" name="Oval 20"/>
          <p:cNvSpPr/>
          <p:nvPr/>
        </p:nvSpPr>
        <p:spPr>
          <a:xfrm>
            <a:off x="8997730" y="864000"/>
            <a:ext cx="720000" cy="72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97730" y="918000"/>
            <a:ext cx="720000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58022" y="1512000"/>
            <a:ext cx="2999417" cy="1296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58022" y="1512000"/>
            <a:ext cx="2999417" cy="162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66022" y="1764000"/>
            <a:ext cx="2783417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D6A4F"/>
                </a:solidFill>
                <a:latin typeface="Calibri"/>
              </a:rPr>
              <a:t>Invita
i clienti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2988000"/>
            <a:ext cx="11108952" cy="3438001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0000" y="2988000"/>
            <a:ext cx="144000" cy="3438001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000" y="3060000"/>
            <a:ext cx="10748952" cy="3366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Tutto il resto è gestito da Salute Quotidiana: iscrizioni, verifiche, prenotazioni, prestazioni.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A fine periodo: report con dati reali — iscritti, credito accumulato, credito utilizzato, fondo residuo.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0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8000" y="6634801"/>
            <a:ext cx="1128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ABBCC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0000"/>
            <a:ext cx="11108952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Il credito si usa per sé.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044000"/>
            <a:ext cx="11108952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6EEE2"/>
                </a:solidFill>
                <a:latin typeface="Calibri"/>
              </a:rPr>
              <a:t>O si dà al vicino che non può muoversi.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6665371" cy="216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1728000"/>
            <a:ext cx="5446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0E8F0"/>
                </a:solidFill>
                <a:latin typeface="Calibri"/>
              </a:rPr>
              <a:t>Cedibile a chiunque il titolare voglia,
senza vincoli di parentela o convivenza.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728000"/>
            <a:ext cx="5446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0E8F0"/>
                </a:solidFill>
                <a:latin typeface="Calibri"/>
              </a:rPr>
              <a:t>Un familiare, un vicino, un amico:
basta che sia iscritto alla piattaforma.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196000"/>
            <a:ext cx="5446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0E8F0"/>
                </a:solidFill>
                <a:latin typeface="Calibri"/>
              </a:rPr>
              <a:t>Nessun abbonamento.
Nessuna spesa aggiuntiva.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2476" y="2196000"/>
            <a:ext cx="5446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0E8F0"/>
                </a:solidFill>
                <a:latin typeface="Calibri"/>
              </a:rPr>
              <a:t>Non è un vantaggio individuale.
È un beneficio che si condivide.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8000" y="72000"/>
            <a:ext cx="11288952" cy="41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Un esercizio, 20 clienti, 30 giorni. Il rischio massimo è già definito.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486000"/>
            <a:ext cx="11288952" cy="25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Dati reali da un test reale — senza costi variabili aperti.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6634801"/>
            <a:ext cx="1128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72000"/>
            <a:ext cx="2669238" cy="1007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000" y="1062000"/>
            <a:ext cx="2561238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000" y="1656000"/>
            <a:ext cx="2561238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esercizio
commerciale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3238" y="972000"/>
            <a:ext cx="2669238" cy="1007999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07238" y="1062000"/>
            <a:ext cx="2561238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7238" y="1656000"/>
            <a:ext cx="2561238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clienti
per ciclo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6476" y="972000"/>
            <a:ext cx="2669238" cy="1007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20476" y="1062000"/>
            <a:ext cx="2561238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0476" y="1656000"/>
            <a:ext cx="2561238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giorni
di durata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9714" y="972000"/>
            <a:ext cx="2669238" cy="1007999"/>
          </a:xfrm>
          <a:prstGeom prst="rect">
            <a:avLst/>
          </a:prstGeom>
          <a:solidFill>
            <a:srgbClr val="1D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33714" y="1062000"/>
            <a:ext cx="2561238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1.000 €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3714" y="1656000"/>
            <a:ext cx="2561238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fondo
stanziato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2159999"/>
            <a:ext cx="11108952" cy="4302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3A5C"/>
                </a:solidFill>
                <a:latin typeface="Calibri"/>
              </a:rPr>
              <a:t>Il pilot produce dati concreti su: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quanti clienti si iscrivono e con quale velocità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quanto credito accumulano e in che tempi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quali prestazioni scelgono con maggiore frequenza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6246001"/>
            <a:ext cx="11108952" cy="30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4000" y="6289201"/>
            <a:ext cx="10820952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Rischio massimo = fondo stanziato.  Nessun costo variabile aperto.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8000" y="72000"/>
            <a:ext cx="11288952" cy="41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La piattaforma funziona già. Nessuna installazione, nessun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486000"/>
            <a:ext cx="11288952" cy="25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Accessibile da qualsiasi smartphone via browser. Tre viste dedicate.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6634801"/>
            <a:ext cx="1128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900000"/>
            <a:ext cx="3332685" cy="556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3A5C"/>
                </a:solidFill>
                <a:latin typeface="Calibri"/>
              </a:rPr>
              <a:t>Ogni ruolo ha
la sua vista.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Cliente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Esercizio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Salute Quotidiana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100" b="1" i="0">
                <a:solidFill>
                  <a:srgbClr val="2E6DA8"/>
                </a:solidFill>
                <a:latin typeface="Calibri"/>
              </a:rPr>
              <a:t>Stack: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HTML/CSS/JS + Supabase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Zero installazione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Funziona su qualsiasi
smartphone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5954" y="900000"/>
            <a:ext cx="2444999" cy="5490001"/>
          </a:xfrm>
          <a:prstGeom prst="rect">
            <a:avLst/>
          </a:prstGeom>
          <a:solidFill>
            <a:srgbClr val="FFFFFF"/>
          </a:solidFill>
          <a:ln w="180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5954" y="900000"/>
            <a:ext cx="2444999" cy="19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41954" y="928800"/>
            <a:ext cx="2372999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CLIENTE — Saldo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7554" y="1116000"/>
            <a:ext cx="2401799" cy="5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49154" y="11304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1A3A5C"/>
                </a:solidFill>
                <a:latin typeface="Calibri"/>
              </a:rPr>
              <a:t>Saldo: 12,50 SQ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7554" y="1645200"/>
            <a:ext cx="2401799" cy="5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49154" y="16596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B7770D"/>
                </a:solidFill>
                <a:latin typeface="Calibri"/>
              </a:rPr>
              <a:t>In verifica: 3,50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7554" y="2439000"/>
            <a:ext cx="2401799" cy="529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49154" y="24534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FFFFFF"/>
                </a:solidFill>
                <a:latin typeface="Calibri"/>
              </a:rPr>
              <a:t>CARICA SCONTRINO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7554" y="3232800"/>
            <a:ext cx="2401799" cy="5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49154" y="32472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Farmacia   +2,40 SQ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7554" y="3762000"/>
            <a:ext cx="2401799" cy="5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49154" y="37764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Bar        +0,80 SQ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7554" y="4291200"/>
            <a:ext cx="2401799" cy="5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49154" y="43056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Supermercato +1,50 SQ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8953" y="900000"/>
            <a:ext cx="2444999" cy="5490001"/>
          </a:xfrm>
          <a:prstGeom prst="rect">
            <a:avLst/>
          </a:prstGeom>
          <a:solidFill>
            <a:srgbClr val="FFFFFF"/>
          </a:solidFill>
          <a:ln w="1800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58953" y="900000"/>
            <a:ext cx="2444999" cy="198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94953" y="928800"/>
            <a:ext cx="2372999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CLIENTE — Prenota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0553" y="1116000"/>
            <a:ext cx="2401799" cy="5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02153" y="11304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1A3A5C"/>
                </a:solidFill>
                <a:latin typeface="Calibri"/>
              </a:rPr>
              <a:t>Saldo: 12,50 SQ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0553" y="1909800"/>
            <a:ext cx="2401799" cy="529200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02153" y="19242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2D6A4F"/>
                </a:solidFill>
                <a:latin typeface="Calibri"/>
              </a:rPr>
              <a:t>✔ Iniezione I.M.  8 SQ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80553" y="2439000"/>
            <a:ext cx="2401799" cy="529200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02153" y="24534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2D6A4F"/>
                </a:solidFill>
                <a:latin typeface="Calibri"/>
              </a:rPr>
              <a:t>✔ Prelievo       10 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0553" y="2968200"/>
            <a:ext cx="2401799" cy="529200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02153" y="29826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2D6A4F"/>
                </a:solidFill>
                <a:latin typeface="Calibri"/>
              </a:rPr>
              <a:t>✔ Medicazione   13 SQ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0553" y="3497400"/>
            <a:ext cx="2401799" cy="5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02153" y="35118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  Controllo      16 SQ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80553" y="4026600"/>
            <a:ext cx="2401799" cy="5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02153" y="40410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  Prelievo art.  20 SQ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0553" y="4820400"/>
            <a:ext cx="2401799" cy="5292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02153" y="48348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FFFFFF"/>
                </a:solidFill>
                <a:latin typeface="Calibri"/>
              </a:rPr>
              <a:t>PRENOTA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1952" y="900000"/>
            <a:ext cx="2444999" cy="5490001"/>
          </a:xfrm>
          <a:prstGeom prst="rect">
            <a:avLst/>
          </a:prstGeom>
          <a:solidFill>
            <a:srgbClr val="FFFFFF"/>
          </a:solidFill>
          <a:ln w="180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311952" y="900000"/>
            <a:ext cx="2444999" cy="19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47952" y="928800"/>
            <a:ext cx="2372999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ESERCIZIO — Report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33552" y="1116000"/>
            <a:ext cx="2401799" cy="5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55152" y="11304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1A3A5C"/>
                </a:solidFill>
                <a:latin typeface="Calibri"/>
              </a:rPr>
              <a:t>Periodo: luglio 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33552" y="1909800"/>
            <a:ext cx="2401799" cy="5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55152" y="19242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Iscritti attivi:       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33552" y="2439000"/>
            <a:ext cx="2401799" cy="5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355152" y="24534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Scontrini caricati:   143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33552" y="2968200"/>
            <a:ext cx="2401799" cy="5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55152" y="29826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Credito accumulato: 234 SQ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33552" y="3497400"/>
            <a:ext cx="2401799" cy="5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55152" y="35118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Credito usato:       86 SQ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33552" y="4026600"/>
            <a:ext cx="2401799" cy="529200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355152" y="40410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2D6A4F"/>
                </a:solidFill>
                <a:latin typeface="Calibri"/>
              </a:rPr>
              <a:t>Fondo residuo:      766 €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33552" y="4820400"/>
            <a:ext cx="2401799" cy="529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55152" y="4834800"/>
            <a:ext cx="2358599" cy="5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FFFFFF"/>
                </a:solidFill>
                <a:latin typeface="Calibri"/>
              </a:rPr>
              <a:t>ESPORTA 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0000"/>
            <a:ext cx="12188952" cy="64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0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8000" y="79200"/>
            <a:ext cx="11288952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Il programma parte questa settimana. Il primo esercizio è già attivo.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" y="827999"/>
            <a:ext cx="3600000" cy="216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0000" y="900000"/>
            <a:ext cx="5410476" cy="5166000"/>
          </a:xfrm>
          <a:prstGeom prst="rect">
            <a:avLst/>
          </a:prstGeom>
          <a:solidFill>
            <a:srgbClr val="12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5410476" cy="180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000" y="918000"/>
            <a:ext cx="5194476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PER L'ESERCIZIO COMMERCIALE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1188000"/>
            <a:ext cx="5122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0E8F0"/>
                </a:solidFill>
                <a:latin typeface="Calibri"/>
              </a:rPr>
              <a:t>1.  Contatta Salute Quotidiana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1458000"/>
            <a:ext cx="5122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0E8F0"/>
                </a:solidFill>
                <a:latin typeface="Calibri"/>
              </a:rPr>
              <a:t>2.  Definisci fondo e durata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1728000"/>
            <a:ext cx="5122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0E8F0"/>
                </a:solidFill>
                <a:latin typeface="Calibri"/>
              </a:rPr>
              <a:t>3.  Firma il contratto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1998000"/>
            <a:ext cx="5122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0E8F0"/>
                </a:solidFill>
                <a:latin typeface="Calibri"/>
              </a:rPr>
              <a:t>4.  Avvia il programma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8476" y="900000"/>
            <a:ext cx="5410476" cy="5166000"/>
          </a:xfrm>
          <a:prstGeom prst="rect">
            <a:avLst/>
          </a:prstGeom>
          <a:solidFill>
            <a:srgbClr val="12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8476" y="900000"/>
            <a:ext cx="5410476" cy="18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6476" y="918000"/>
            <a:ext cx="5194476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PER IL PARTNER / FINANZIATORE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476" y="1188000"/>
            <a:ext cx="5122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0E8F0"/>
                </a:solidFill>
                <a:latin typeface="Calibri"/>
              </a:rPr>
              <a:t>1.  Richiedi i risultati del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476" y="1458000"/>
            <a:ext cx="5122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0E8F0"/>
                </a:solidFill>
                <a:latin typeface="Calibri"/>
              </a:rPr>
              <a:t>2.  Valuta l'estensione del modello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476" y="1728000"/>
            <a:ext cx="5122476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0E8F0"/>
                </a:solidFill>
                <a:latin typeface="Calibri"/>
              </a:rPr>
              <a:t>3.  Definisci l'accordo di partnership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000" y="1980000"/>
            <a:ext cx="126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EEE2"/>
                </a:solidFill>
                <a:latin typeface="Calibri"/>
              </a:rPr>
              <a:t>Email: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0000" y="1980000"/>
            <a:ext cx="984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angelo.rosso073@gmail.com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000" y="2286000"/>
            <a:ext cx="126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EEE2"/>
                </a:solidFill>
                <a:latin typeface="Calibri"/>
              </a:rPr>
              <a:t>Pilot: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0" y="2286000"/>
            <a:ext cx="984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già attivo — rischio zero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" y="6138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EEE2"/>
                </a:solidFill>
                <a:latin typeface="Calibri"/>
              </a:rPr>
              <a:t>Credito Salute SQ  ·  Salute Quotidiana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2026-07-22T15:24:04Z</dcterms:modified>
  <cp:category/>
</cp:coreProperties>
</file>