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84647B5-9A72-70BD-D6A1-C73A0B08D5F3}" v="4" dt="2026-07-15T15:56:19.9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gelo Rosso" userId="2457c3efb098ae0d" providerId="Windows Live" clId="Web-{884647B5-9A72-70BD-D6A1-C73A0B08D5F3}"/>
    <pc:docChg chg="modSld">
      <pc:chgData name="Angelo Rosso" userId="2457c3efb098ae0d" providerId="Windows Live" clId="Web-{884647B5-9A72-70BD-D6A1-C73A0B08D5F3}" dt="2026-07-15T15:56:19.921" v="2" actId="1076"/>
      <pc:docMkLst>
        <pc:docMk/>
      </pc:docMkLst>
      <pc:sldChg chg="modSp">
        <pc:chgData name="Angelo Rosso" userId="2457c3efb098ae0d" providerId="Windows Live" clId="Web-{884647B5-9A72-70BD-D6A1-C73A0B08D5F3}" dt="2026-07-15T15:56:19.921" v="2" actId="1076"/>
        <pc:sldMkLst>
          <pc:docMk/>
          <pc:sldMk cId="0" sldId="257"/>
        </pc:sldMkLst>
        <pc:spChg chg="mod">
          <ac:chgData name="Angelo Rosso" userId="2457c3efb098ae0d" providerId="Windows Live" clId="Web-{884647B5-9A72-70BD-D6A1-C73A0B08D5F3}" dt="2026-07-15T15:56:19.921" v="2" actId="1076"/>
          <ac:spMkLst>
            <pc:docMk/>
            <pc:sldMk cId="0" sldId="257"/>
            <ac:spMk id="6" creationId="{00000000-0000-0000-0000-000000000000}"/>
          </ac:spMkLst>
        </pc:spChg>
        <pc:spChg chg="mod">
          <ac:chgData name="Angelo Rosso" userId="2457c3efb098ae0d" providerId="Windows Live" clId="Web-{884647B5-9A72-70BD-D6A1-C73A0B08D5F3}" dt="2026-07-15T15:56:06.203" v="1" actId="20577"/>
          <ac:spMkLst>
            <pc:docMk/>
            <pc:sldMk cId="0" sldId="257"/>
            <ac:spMk id="8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26000"/>
            <a:ext cx="12188952" cy="432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20000" y="900000"/>
            <a:ext cx="10748952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Credito Salute SQ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872000"/>
            <a:ext cx="10748952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0E8F0"/>
                </a:solidFill>
                <a:latin typeface="Calibri"/>
              </a:rPr>
              <a:t>La spesa di tutti i giorni diventa accesso</a:t>
            </a:r>
            <a:br/>
            <a:r>
              <a:t>a cure infermieristiche a domicilio.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6066000"/>
            <a:ext cx="2880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E0E8F0"/>
                </a:solidFill>
                <a:latin typeface="Calibri"/>
              </a:rPr>
              <a:t>Un programma di Salute Quotidiana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20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4000" cy="6858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2000" y="54000"/>
            <a:ext cx="11468952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Prima di tutto.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540000"/>
            <a:ext cx="11468952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E0E8F0"/>
                </a:solidFill>
                <a:latin typeface="Calibri"/>
              </a:rPr>
              <a:t>Perché esiste Salute Quotidiana</a:t>
            </a:r>
          </a:p>
        </p:txBody>
      </p:sp>
      <p:sp>
        <p:nvSpPr>
          <p:cNvPr id="6" name="Rectangle 5"/>
          <p:cNvSpPr/>
          <p:nvPr/>
        </p:nvSpPr>
        <p:spPr>
          <a:xfrm>
            <a:off x="-2618320" y="6207911"/>
            <a:ext cx="12188952" cy="216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2000" y="6656400"/>
            <a:ext cx="11468952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FFFFFF"/>
                </a:solidFill>
                <a:latin typeface="Calibri"/>
              </a:rPr>
              <a:t>Credito Salute SQ  ·  Salute Quotidiana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1152000"/>
            <a:ext cx="11108952" cy="23134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A3A5C"/>
                </a:solidFill>
                <a:latin typeface="Calibri"/>
              </a:rPr>
              <a:t>Non </a:t>
            </a:r>
            <a:r>
              <a:rPr sz="1000" b="1" i="0" err="1">
                <a:solidFill>
                  <a:srgbClr val="1A3A5C"/>
                </a:solidFill>
                <a:latin typeface="Calibri"/>
              </a:rPr>
              <a:t>siamo</a:t>
            </a:r>
            <a:r>
              <a:rPr sz="1000" b="1" i="0">
                <a:solidFill>
                  <a:srgbClr val="1A3A5C"/>
                </a:solidFill>
                <a:latin typeface="Calibri"/>
              </a:rPr>
              <a:t> </a:t>
            </a:r>
            <a:r>
              <a:rPr sz="1000" b="1" i="0" err="1">
                <a:solidFill>
                  <a:srgbClr val="1A3A5C"/>
                </a:solidFill>
                <a:latin typeface="Calibri"/>
              </a:rPr>
              <a:t>nati</a:t>
            </a:r>
            <a:r>
              <a:rPr sz="1000" b="1" i="0">
                <a:solidFill>
                  <a:srgbClr val="1A3A5C"/>
                </a:solidFill>
                <a:latin typeface="Calibri"/>
              </a:rPr>
              <a:t> per </a:t>
            </a:r>
            <a:r>
              <a:rPr sz="1000" b="1" i="0" err="1">
                <a:solidFill>
                  <a:srgbClr val="1A3A5C"/>
                </a:solidFill>
                <a:latin typeface="Calibri"/>
              </a:rPr>
              <a:t>competere</a:t>
            </a:r>
            <a:r>
              <a:rPr sz="1000" b="1" i="0">
                <a:solidFill>
                  <a:srgbClr val="1A3A5C"/>
                </a:solidFill>
                <a:latin typeface="Calibri"/>
              </a:rPr>
              <a:t>. Siamo </a:t>
            </a:r>
            <a:r>
              <a:rPr sz="1000" b="1" i="0" err="1">
                <a:solidFill>
                  <a:srgbClr val="1A3A5C"/>
                </a:solidFill>
                <a:latin typeface="Calibri"/>
              </a:rPr>
              <a:t>nati</a:t>
            </a:r>
            <a:r>
              <a:rPr sz="1000" b="1" i="0">
                <a:solidFill>
                  <a:srgbClr val="1A3A5C"/>
                </a:solidFill>
                <a:latin typeface="Calibri"/>
              </a:rPr>
              <a:t> per </a:t>
            </a:r>
            <a:r>
              <a:rPr sz="1000" b="1" i="0" err="1">
                <a:solidFill>
                  <a:srgbClr val="1A3A5C"/>
                </a:solidFill>
                <a:latin typeface="Calibri"/>
              </a:rPr>
              <a:t>costruire</a:t>
            </a:r>
            <a:r>
              <a:rPr sz="1000" b="1" i="0">
                <a:solidFill>
                  <a:srgbClr val="1A3A5C"/>
                </a:solidFill>
                <a:latin typeface="Calibri"/>
              </a:rPr>
              <a:t>.</a:t>
            </a:r>
            <a:endParaRPr lang="it-IT" sz="1000" b="1" i="0">
              <a:solidFill>
                <a:srgbClr val="1A3A5C"/>
              </a:solidFill>
              <a:latin typeface="Calibri"/>
              <a:ea typeface="Calibri"/>
              <a:cs typeface="Calibri"/>
            </a:endParaRPr>
          </a:p>
          <a:p>
            <a:pPr algn="l">
              <a:lnSpc>
                <a:spcPct val="90000"/>
              </a:lnSpc>
            </a:pPr>
            <a:r>
              <a:rPr sz="1000" b="0" i="0">
                <a:solidFill>
                  <a:srgbClr val="333333"/>
                </a:solidFill>
                <a:latin typeface="Calibri"/>
              </a:rPr>
              <a:t>Chi </a:t>
            </a:r>
            <a:r>
              <a:rPr sz="1000" b="0" i="0" err="1">
                <a:solidFill>
                  <a:srgbClr val="333333"/>
                </a:solidFill>
                <a:latin typeface="Calibri"/>
              </a:rPr>
              <a:t>gestisce</a:t>
            </a:r>
            <a:r>
              <a:rPr sz="1000" b="0" i="0">
                <a:solidFill>
                  <a:srgbClr val="333333"/>
                </a:solidFill>
                <a:latin typeface="Calibri"/>
              </a:rPr>
              <a:t> </a:t>
            </a:r>
            <a:r>
              <a:rPr sz="1000" b="0" i="0" err="1">
                <a:solidFill>
                  <a:srgbClr val="333333"/>
                </a:solidFill>
                <a:latin typeface="Calibri"/>
              </a:rPr>
              <a:t>un’attività</a:t>
            </a:r>
            <a:r>
              <a:rPr sz="1000" b="0" i="0">
                <a:solidFill>
                  <a:srgbClr val="333333"/>
                </a:solidFill>
                <a:latin typeface="Calibri"/>
              </a:rPr>
              <a:t> </a:t>
            </a:r>
            <a:r>
              <a:rPr sz="1000" b="0" i="0" err="1">
                <a:solidFill>
                  <a:srgbClr val="333333"/>
                </a:solidFill>
                <a:latin typeface="Calibri"/>
              </a:rPr>
              <a:t>commerciale</a:t>
            </a:r>
            <a:r>
              <a:rPr sz="1000" b="0" i="0">
                <a:solidFill>
                  <a:srgbClr val="333333"/>
                </a:solidFill>
                <a:latin typeface="Calibri"/>
              </a:rPr>
              <a:t> </a:t>
            </a:r>
            <a:r>
              <a:rPr sz="1000" b="0" i="0" err="1">
                <a:solidFill>
                  <a:srgbClr val="333333"/>
                </a:solidFill>
                <a:latin typeface="Calibri"/>
              </a:rPr>
              <a:t>oggi</a:t>
            </a:r>
            <a:r>
              <a:rPr sz="1000" b="0" i="0">
                <a:solidFill>
                  <a:srgbClr val="333333"/>
                </a:solidFill>
                <a:latin typeface="Calibri"/>
              </a:rPr>
              <a:t> lo </a:t>
            </a:r>
            <a:r>
              <a:rPr sz="1000" b="0" i="0" err="1">
                <a:solidFill>
                  <a:srgbClr val="333333"/>
                </a:solidFill>
                <a:latin typeface="Calibri"/>
              </a:rPr>
              <a:t>sa</a:t>
            </a:r>
            <a:r>
              <a:rPr sz="1000" b="0" i="0">
                <a:solidFill>
                  <a:srgbClr val="333333"/>
                </a:solidFill>
                <a:latin typeface="Calibri"/>
              </a:rPr>
              <a:t> </a:t>
            </a:r>
            <a:r>
              <a:rPr sz="1000" b="0" i="0" err="1">
                <a:solidFill>
                  <a:srgbClr val="333333"/>
                </a:solidFill>
                <a:latin typeface="Calibri"/>
              </a:rPr>
              <a:t>meglio</a:t>
            </a:r>
            <a:r>
              <a:rPr sz="1000" b="0" i="0">
                <a:solidFill>
                  <a:srgbClr val="333333"/>
                </a:solidFill>
                <a:latin typeface="Calibri"/>
              </a:rPr>
              <a:t> di </a:t>
            </a:r>
            <a:r>
              <a:rPr sz="1000" b="0" i="0" err="1">
                <a:solidFill>
                  <a:srgbClr val="333333"/>
                </a:solidFill>
                <a:latin typeface="Calibri"/>
              </a:rPr>
              <a:t>chiunque</a:t>
            </a:r>
            <a:r>
              <a:rPr sz="1000" b="0" i="0">
                <a:solidFill>
                  <a:srgbClr val="333333"/>
                </a:solidFill>
                <a:latin typeface="Calibri"/>
              </a:rPr>
              <a:t> </a:t>
            </a:r>
            <a:r>
              <a:rPr sz="1000" b="0" i="0" err="1">
                <a:solidFill>
                  <a:srgbClr val="333333"/>
                </a:solidFill>
                <a:latin typeface="Calibri"/>
              </a:rPr>
              <a:t>altro</a:t>
            </a:r>
            <a:r>
              <a:rPr sz="1000" b="0" i="0">
                <a:solidFill>
                  <a:srgbClr val="333333"/>
                </a:solidFill>
                <a:latin typeface="Calibri"/>
              </a:rPr>
              <a:t>: il </a:t>
            </a:r>
            <a:r>
              <a:rPr sz="1000" b="0" i="0" err="1">
                <a:solidFill>
                  <a:srgbClr val="333333"/>
                </a:solidFill>
                <a:latin typeface="Calibri"/>
              </a:rPr>
              <a:t>sistema</a:t>
            </a:r>
            <a:r>
              <a:rPr sz="1000" b="0" i="0">
                <a:solidFill>
                  <a:srgbClr val="333333"/>
                </a:solidFill>
                <a:latin typeface="Calibri"/>
              </a:rPr>
              <a:t> premia chi </a:t>
            </a:r>
            <a:r>
              <a:rPr sz="1000" b="0" i="0" err="1">
                <a:solidFill>
                  <a:srgbClr val="333333"/>
                </a:solidFill>
                <a:latin typeface="Calibri"/>
              </a:rPr>
              <a:t>taglia</a:t>
            </a:r>
            <a:r>
              <a:rPr sz="1000" b="0" i="0">
                <a:solidFill>
                  <a:srgbClr val="333333"/>
                </a:solidFill>
                <a:latin typeface="Calibri"/>
              </a:rPr>
              <a:t>, chi </a:t>
            </a:r>
            <a:r>
              <a:rPr sz="1000" b="0" i="0" err="1">
                <a:solidFill>
                  <a:srgbClr val="333333"/>
                </a:solidFill>
                <a:latin typeface="Calibri"/>
              </a:rPr>
              <a:t>sgomita</a:t>
            </a:r>
            <a:r>
              <a:rPr sz="1000" b="0" i="0">
                <a:solidFill>
                  <a:srgbClr val="333333"/>
                </a:solidFill>
                <a:latin typeface="Calibri"/>
              </a:rPr>
              <a:t>, chi </a:t>
            </a:r>
            <a:r>
              <a:rPr sz="1000" b="0" i="0" err="1">
                <a:solidFill>
                  <a:srgbClr val="333333"/>
                </a:solidFill>
                <a:latin typeface="Calibri"/>
              </a:rPr>
              <a:t>mette</a:t>
            </a:r>
            <a:r>
              <a:rPr sz="1000" b="0" i="0">
                <a:solidFill>
                  <a:srgbClr val="333333"/>
                </a:solidFill>
                <a:latin typeface="Calibri"/>
              </a:rPr>
              <a:t> il proprio interesse </a:t>
            </a:r>
            <a:r>
              <a:rPr sz="1000" b="0" i="0" err="1">
                <a:solidFill>
                  <a:srgbClr val="333333"/>
                </a:solidFill>
                <a:latin typeface="Calibri"/>
              </a:rPr>
              <a:t>davanti</a:t>
            </a:r>
            <a:r>
              <a:rPr sz="1000" b="0" i="0">
                <a:solidFill>
                  <a:srgbClr val="333333"/>
                </a:solidFill>
                <a:latin typeface="Calibri"/>
              </a:rPr>
              <a:t> a </a:t>
            </a:r>
            <a:r>
              <a:rPr sz="1000" b="0" i="0" err="1">
                <a:solidFill>
                  <a:srgbClr val="333333"/>
                </a:solidFill>
                <a:latin typeface="Calibri"/>
              </a:rPr>
              <a:t>tutto</a:t>
            </a:r>
            <a:r>
              <a:rPr sz="1000" b="0" i="0">
                <a:solidFill>
                  <a:srgbClr val="333333"/>
                </a:solidFill>
                <a:latin typeface="Calibri"/>
              </a:rPr>
              <a:t> il resto. Ti </a:t>
            </a:r>
            <a:r>
              <a:rPr sz="1000" b="0" i="0" err="1">
                <a:solidFill>
                  <a:srgbClr val="333333"/>
                </a:solidFill>
                <a:latin typeface="Calibri"/>
              </a:rPr>
              <a:t>dicono</a:t>
            </a:r>
            <a:r>
              <a:rPr sz="1000" b="0" i="0">
                <a:solidFill>
                  <a:srgbClr val="333333"/>
                </a:solidFill>
                <a:latin typeface="Calibri"/>
              </a:rPr>
              <a:t> </a:t>
            </a:r>
            <a:r>
              <a:rPr sz="1000" b="0" i="0" err="1">
                <a:solidFill>
                  <a:srgbClr val="333333"/>
                </a:solidFill>
                <a:latin typeface="Calibri"/>
              </a:rPr>
              <a:t>che</a:t>
            </a:r>
            <a:r>
              <a:rPr sz="1000" b="0" i="0">
                <a:solidFill>
                  <a:srgbClr val="333333"/>
                </a:solidFill>
                <a:latin typeface="Calibri"/>
              </a:rPr>
              <a:t> è sempre </a:t>
            </a:r>
            <a:r>
              <a:rPr sz="1000" b="0" i="0" err="1">
                <a:solidFill>
                  <a:srgbClr val="333333"/>
                </a:solidFill>
                <a:latin typeface="Calibri"/>
              </a:rPr>
              <a:t>stato</a:t>
            </a:r>
            <a:r>
              <a:rPr sz="1000" b="0" i="0">
                <a:solidFill>
                  <a:srgbClr val="333333"/>
                </a:solidFill>
                <a:latin typeface="Calibri"/>
              </a:rPr>
              <a:t> </a:t>
            </a:r>
            <a:r>
              <a:rPr sz="1000" b="0" i="0" err="1">
                <a:solidFill>
                  <a:srgbClr val="333333"/>
                </a:solidFill>
                <a:latin typeface="Calibri"/>
              </a:rPr>
              <a:t>così</a:t>
            </a:r>
            <a:r>
              <a:rPr sz="1000" b="0" i="0">
                <a:solidFill>
                  <a:srgbClr val="333333"/>
                </a:solidFill>
                <a:latin typeface="Calibri"/>
              </a:rPr>
              <a:t>. Che è la natura delle </a:t>
            </a:r>
            <a:r>
              <a:rPr sz="1000" b="0" i="0" err="1">
                <a:solidFill>
                  <a:srgbClr val="333333"/>
                </a:solidFill>
                <a:latin typeface="Calibri"/>
              </a:rPr>
              <a:t>cose</a:t>
            </a:r>
            <a:r>
              <a:rPr sz="1000" b="0" i="0">
                <a:solidFill>
                  <a:srgbClr val="333333"/>
                </a:solidFill>
                <a:latin typeface="Calibri"/>
              </a:rPr>
              <a:t>. Che non </a:t>
            </a:r>
            <a:r>
              <a:rPr sz="1000" b="0" i="0" err="1">
                <a:solidFill>
                  <a:srgbClr val="333333"/>
                </a:solidFill>
                <a:latin typeface="Calibri"/>
              </a:rPr>
              <a:t>c’è</a:t>
            </a:r>
            <a:r>
              <a:rPr sz="1000" b="0" i="0">
                <a:solidFill>
                  <a:srgbClr val="333333"/>
                </a:solidFill>
                <a:latin typeface="Calibri"/>
              </a:rPr>
              <a:t> </a:t>
            </a:r>
            <a:r>
              <a:rPr sz="1000" b="0" i="0" err="1">
                <a:solidFill>
                  <a:srgbClr val="333333"/>
                </a:solidFill>
                <a:latin typeface="Calibri"/>
              </a:rPr>
              <a:t>alternativa</a:t>
            </a:r>
            <a:r>
              <a:rPr sz="1000" b="0" i="0">
                <a:solidFill>
                  <a:srgbClr val="333333"/>
                </a:solidFill>
                <a:latin typeface="Calibri"/>
              </a:rPr>
              <a:t>.</a:t>
            </a:r>
            <a:endParaRPr sz="1000" b="0" i="0">
              <a:solidFill>
                <a:srgbClr val="333333"/>
              </a:solidFill>
              <a:latin typeface="Calibri"/>
              <a:ea typeface="Calibri"/>
              <a:cs typeface="Calibri"/>
            </a:endParaRP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00" b="1" i="0">
                <a:solidFill>
                  <a:srgbClr val="1A3A5C"/>
                </a:solidFill>
                <a:latin typeface="Calibri"/>
              </a:rPr>
              <a:t>Non è </a:t>
            </a:r>
            <a:r>
              <a:rPr sz="1000" b="1" i="0" err="1">
                <a:solidFill>
                  <a:srgbClr val="1A3A5C"/>
                </a:solidFill>
                <a:latin typeface="Calibri"/>
              </a:rPr>
              <a:t>vero</a:t>
            </a:r>
            <a:r>
              <a:rPr sz="1000" b="1" i="0">
                <a:solidFill>
                  <a:srgbClr val="1A3A5C"/>
                </a:solidFill>
                <a:latin typeface="Calibri"/>
              </a:rPr>
              <a:t>.</a:t>
            </a:r>
            <a:endParaRPr sz="1000" b="1" i="0">
              <a:solidFill>
                <a:srgbClr val="1A3A5C"/>
              </a:solidFill>
              <a:latin typeface="Calibri"/>
              <a:ea typeface="Calibri"/>
              <a:cs typeface="Calibri"/>
            </a:endParaRPr>
          </a:p>
          <a:p>
            <a:pPr algn="l">
              <a:lnSpc>
                <a:spcPct val="90000"/>
              </a:lnSpc>
            </a:pPr>
            <a:r>
              <a:rPr sz="1000" b="0" i="0">
                <a:solidFill>
                  <a:srgbClr val="333333"/>
                </a:solidFill>
                <a:latin typeface="Calibri"/>
              </a:rPr>
              <a:t>Per </a:t>
            </a:r>
            <a:r>
              <a:rPr sz="1000" b="0" i="0" err="1">
                <a:solidFill>
                  <a:srgbClr val="333333"/>
                </a:solidFill>
                <a:latin typeface="Calibri"/>
              </a:rPr>
              <a:t>secoli</a:t>
            </a:r>
            <a:r>
              <a:rPr sz="1000" b="0" i="0">
                <a:solidFill>
                  <a:srgbClr val="333333"/>
                </a:solidFill>
                <a:latin typeface="Calibri"/>
              </a:rPr>
              <a:t> le </a:t>
            </a:r>
            <a:r>
              <a:rPr sz="1000" b="0" i="0" err="1">
                <a:solidFill>
                  <a:srgbClr val="333333"/>
                </a:solidFill>
                <a:latin typeface="Calibri"/>
              </a:rPr>
              <a:t>comunità</a:t>
            </a:r>
            <a:r>
              <a:rPr sz="1000" b="0" i="0">
                <a:solidFill>
                  <a:srgbClr val="333333"/>
                </a:solidFill>
                <a:latin typeface="Calibri"/>
              </a:rPr>
              <a:t> </a:t>
            </a:r>
            <a:r>
              <a:rPr sz="1000" b="0" i="0" err="1">
                <a:solidFill>
                  <a:srgbClr val="333333"/>
                </a:solidFill>
                <a:latin typeface="Calibri"/>
              </a:rPr>
              <a:t>hanno</a:t>
            </a:r>
            <a:r>
              <a:rPr sz="1000" b="0" i="0">
                <a:solidFill>
                  <a:srgbClr val="333333"/>
                </a:solidFill>
                <a:latin typeface="Calibri"/>
              </a:rPr>
              <a:t> </a:t>
            </a:r>
            <a:r>
              <a:rPr sz="1000" b="0" i="0" err="1">
                <a:solidFill>
                  <a:srgbClr val="333333"/>
                </a:solidFill>
                <a:latin typeface="Calibri"/>
              </a:rPr>
              <a:t>prosperato</a:t>
            </a:r>
            <a:r>
              <a:rPr sz="1000" b="0" i="0">
                <a:solidFill>
                  <a:srgbClr val="333333"/>
                </a:solidFill>
                <a:latin typeface="Calibri"/>
              </a:rPr>
              <a:t> non </a:t>
            </a:r>
            <a:r>
              <a:rPr sz="1000" b="0" i="0" err="1">
                <a:solidFill>
                  <a:srgbClr val="333333"/>
                </a:solidFill>
                <a:latin typeface="Calibri"/>
              </a:rPr>
              <a:t>perché</a:t>
            </a:r>
            <a:r>
              <a:rPr sz="1000" b="0" i="0">
                <a:solidFill>
                  <a:srgbClr val="333333"/>
                </a:solidFill>
                <a:latin typeface="Calibri"/>
              </a:rPr>
              <a:t> </a:t>
            </a:r>
            <a:r>
              <a:rPr sz="1000" b="0" i="0" err="1">
                <a:solidFill>
                  <a:srgbClr val="333333"/>
                </a:solidFill>
                <a:latin typeface="Calibri"/>
              </a:rPr>
              <a:t>i</a:t>
            </a:r>
            <a:r>
              <a:rPr sz="1000" b="0" i="0">
                <a:solidFill>
                  <a:srgbClr val="333333"/>
                </a:solidFill>
                <a:latin typeface="Calibri"/>
              </a:rPr>
              <a:t> </a:t>
            </a:r>
            <a:r>
              <a:rPr sz="1000" b="0" i="0" err="1">
                <a:solidFill>
                  <a:srgbClr val="333333"/>
                </a:solidFill>
                <a:latin typeface="Calibri"/>
              </a:rPr>
              <a:t>più</a:t>
            </a:r>
            <a:r>
              <a:rPr sz="1000" b="0" i="0">
                <a:solidFill>
                  <a:srgbClr val="333333"/>
                </a:solidFill>
                <a:latin typeface="Calibri"/>
              </a:rPr>
              <a:t> </a:t>
            </a:r>
            <a:r>
              <a:rPr sz="1000" b="0" i="0" err="1">
                <a:solidFill>
                  <a:srgbClr val="333333"/>
                </a:solidFill>
                <a:latin typeface="Calibri"/>
              </a:rPr>
              <a:t>forti</a:t>
            </a:r>
            <a:r>
              <a:rPr sz="1000" b="0" i="0">
                <a:solidFill>
                  <a:srgbClr val="333333"/>
                </a:solidFill>
                <a:latin typeface="Calibri"/>
              </a:rPr>
              <a:t> </a:t>
            </a:r>
            <a:r>
              <a:rPr sz="1000" b="0" i="0" err="1">
                <a:solidFill>
                  <a:srgbClr val="333333"/>
                </a:solidFill>
                <a:latin typeface="Calibri"/>
              </a:rPr>
              <a:t>schiacciassero</a:t>
            </a:r>
            <a:r>
              <a:rPr sz="1000" b="0" i="0">
                <a:solidFill>
                  <a:srgbClr val="333333"/>
                </a:solidFill>
                <a:latin typeface="Calibri"/>
              </a:rPr>
              <a:t> </a:t>
            </a:r>
            <a:r>
              <a:rPr sz="1000" b="0" i="0" err="1">
                <a:solidFill>
                  <a:srgbClr val="333333"/>
                </a:solidFill>
                <a:latin typeface="Calibri"/>
              </a:rPr>
              <a:t>i</a:t>
            </a:r>
            <a:r>
              <a:rPr sz="1000" b="0" i="0">
                <a:solidFill>
                  <a:srgbClr val="333333"/>
                </a:solidFill>
                <a:latin typeface="Calibri"/>
              </a:rPr>
              <a:t> </a:t>
            </a:r>
            <a:r>
              <a:rPr sz="1000" b="0" i="0" err="1">
                <a:solidFill>
                  <a:srgbClr val="333333"/>
                </a:solidFill>
                <a:latin typeface="Calibri"/>
              </a:rPr>
              <a:t>più</a:t>
            </a:r>
            <a:r>
              <a:rPr sz="1000" b="0" i="0">
                <a:solidFill>
                  <a:srgbClr val="333333"/>
                </a:solidFill>
                <a:latin typeface="Calibri"/>
              </a:rPr>
              <a:t> </a:t>
            </a:r>
            <a:r>
              <a:rPr sz="1000" b="0" i="0" err="1">
                <a:solidFill>
                  <a:srgbClr val="333333"/>
                </a:solidFill>
                <a:latin typeface="Calibri"/>
              </a:rPr>
              <a:t>deboli</a:t>
            </a:r>
            <a:r>
              <a:rPr sz="1000" b="0" i="0">
                <a:solidFill>
                  <a:srgbClr val="333333"/>
                </a:solidFill>
                <a:latin typeface="Calibri"/>
              </a:rPr>
              <a:t>, ma </a:t>
            </a:r>
            <a:r>
              <a:rPr sz="1000" b="0" i="0" err="1">
                <a:solidFill>
                  <a:srgbClr val="333333"/>
                </a:solidFill>
                <a:latin typeface="Calibri"/>
              </a:rPr>
              <a:t>perché</a:t>
            </a:r>
            <a:r>
              <a:rPr sz="1000" b="0" i="0">
                <a:solidFill>
                  <a:srgbClr val="333333"/>
                </a:solidFill>
                <a:latin typeface="Calibri"/>
              </a:rPr>
              <a:t> le </a:t>
            </a:r>
            <a:r>
              <a:rPr sz="1000" b="0" i="0" err="1">
                <a:solidFill>
                  <a:srgbClr val="333333"/>
                </a:solidFill>
                <a:latin typeface="Calibri"/>
              </a:rPr>
              <a:t>persone</a:t>
            </a:r>
            <a:r>
              <a:rPr sz="1000" b="0" i="0">
                <a:solidFill>
                  <a:srgbClr val="333333"/>
                </a:solidFill>
                <a:latin typeface="Calibri"/>
              </a:rPr>
              <a:t> </a:t>
            </a:r>
            <a:r>
              <a:rPr sz="1000" b="0" i="0" err="1">
                <a:solidFill>
                  <a:srgbClr val="333333"/>
                </a:solidFill>
                <a:latin typeface="Calibri"/>
              </a:rPr>
              <a:t>hanno</a:t>
            </a:r>
            <a:r>
              <a:rPr sz="1000" b="0" i="0">
                <a:solidFill>
                  <a:srgbClr val="333333"/>
                </a:solidFill>
                <a:latin typeface="Calibri"/>
              </a:rPr>
              <a:t> </a:t>
            </a:r>
            <a:r>
              <a:rPr sz="1000" b="0" i="0" err="1">
                <a:solidFill>
                  <a:srgbClr val="333333"/>
                </a:solidFill>
                <a:latin typeface="Calibri"/>
              </a:rPr>
              <a:t>scelto</a:t>
            </a:r>
            <a:r>
              <a:rPr sz="1000" b="0" i="0">
                <a:solidFill>
                  <a:srgbClr val="333333"/>
                </a:solidFill>
                <a:latin typeface="Calibri"/>
              </a:rPr>
              <a:t> di stare </a:t>
            </a:r>
            <a:r>
              <a:rPr sz="1000" b="0" i="0" err="1">
                <a:solidFill>
                  <a:srgbClr val="333333"/>
                </a:solidFill>
                <a:latin typeface="Calibri"/>
              </a:rPr>
              <a:t>dalla</a:t>
            </a:r>
            <a:r>
              <a:rPr sz="1000" b="0" i="0">
                <a:solidFill>
                  <a:srgbClr val="333333"/>
                </a:solidFill>
                <a:latin typeface="Calibri"/>
              </a:rPr>
              <a:t> </a:t>
            </a:r>
            <a:r>
              <a:rPr sz="1000" b="0" i="0" err="1">
                <a:solidFill>
                  <a:srgbClr val="333333"/>
                </a:solidFill>
                <a:latin typeface="Calibri"/>
              </a:rPr>
              <a:t>stessa</a:t>
            </a:r>
            <a:r>
              <a:rPr sz="1000" b="0" i="0">
                <a:solidFill>
                  <a:srgbClr val="333333"/>
                </a:solidFill>
                <a:latin typeface="Calibri"/>
              </a:rPr>
              <a:t> </a:t>
            </a:r>
            <a:r>
              <a:rPr sz="1000" b="0" i="0" err="1">
                <a:solidFill>
                  <a:srgbClr val="333333"/>
                </a:solidFill>
                <a:latin typeface="Calibri"/>
              </a:rPr>
              <a:t>parte</a:t>
            </a:r>
            <a:r>
              <a:rPr sz="1000" b="0" i="0">
                <a:solidFill>
                  <a:srgbClr val="333333"/>
                </a:solidFill>
                <a:latin typeface="Calibri"/>
              </a:rPr>
              <a:t>. Il </a:t>
            </a:r>
            <a:r>
              <a:rPr sz="1000" b="0" i="0" err="1">
                <a:solidFill>
                  <a:srgbClr val="333333"/>
                </a:solidFill>
                <a:latin typeface="Calibri"/>
              </a:rPr>
              <a:t>macellaio</a:t>
            </a:r>
            <a:r>
              <a:rPr sz="1000" b="0" i="0">
                <a:solidFill>
                  <a:srgbClr val="333333"/>
                </a:solidFill>
                <a:latin typeface="Calibri"/>
              </a:rPr>
              <a:t>, il </a:t>
            </a:r>
            <a:r>
              <a:rPr sz="1000" b="0" i="0" err="1">
                <a:solidFill>
                  <a:srgbClr val="333333"/>
                </a:solidFill>
                <a:latin typeface="Calibri"/>
              </a:rPr>
              <a:t>farmacista</a:t>
            </a:r>
            <a:r>
              <a:rPr sz="1000" b="0" i="0">
                <a:solidFill>
                  <a:srgbClr val="333333"/>
                </a:solidFill>
                <a:latin typeface="Calibri"/>
              </a:rPr>
              <a:t>, il bar sotto casa non </a:t>
            </a:r>
            <a:r>
              <a:rPr sz="1000" b="0" i="0" err="1">
                <a:solidFill>
                  <a:srgbClr val="333333"/>
                </a:solidFill>
                <a:latin typeface="Calibri"/>
              </a:rPr>
              <a:t>erano</a:t>
            </a:r>
            <a:r>
              <a:rPr sz="1000" b="0" i="0">
                <a:solidFill>
                  <a:srgbClr val="333333"/>
                </a:solidFill>
                <a:latin typeface="Calibri"/>
              </a:rPr>
              <a:t> </a:t>
            </a:r>
            <a:r>
              <a:rPr sz="1000" b="0" i="0" err="1">
                <a:solidFill>
                  <a:srgbClr val="333333"/>
                </a:solidFill>
                <a:latin typeface="Calibri"/>
              </a:rPr>
              <a:t>concorrenti</a:t>
            </a:r>
            <a:r>
              <a:rPr sz="1000" b="0" i="0">
                <a:solidFill>
                  <a:srgbClr val="333333"/>
                </a:solidFill>
                <a:latin typeface="Calibri"/>
              </a:rPr>
              <a:t> — </a:t>
            </a:r>
            <a:r>
              <a:rPr sz="1000" b="0" i="0" err="1">
                <a:solidFill>
                  <a:srgbClr val="333333"/>
                </a:solidFill>
                <a:latin typeface="Calibri"/>
              </a:rPr>
              <a:t>erano</a:t>
            </a:r>
            <a:r>
              <a:rPr sz="1000" b="0" i="0">
                <a:solidFill>
                  <a:srgbClr val="333333"/>
                </a:solidFill>
                <a:latin typeface="Calibri"/>
              </a:rPr>
              <a:t> </a:t>
            </a:r>
            <a:r>
              <a:rPr sz="1000" b="0" i="0" err="1">
                <a:solidFill>
                  <a:srgbClr val="333333"/>
                </a:solidFill>
                <a:latin typeface="Calibri"/>
              </a:rPr>
              <a:t>parte</a:t>
            </a:r>
            <a:r>
              <a:rPr sz="1000" b="0" i="0">
                <a:solidFill>
                  <a:srgbClr val="333333"/>
                </a:solidFill>
                <a:latin typeface="Calibri"/>
              </a:rPr>
              <a:t> </a:t>
            </a:r>
            <a:r>
              <a:rPr sz="1000" b="0" i="0" err="1">
                <a:solidFill>
                  <a:srgbClr val="333333"/>
                </a:solidFill>
                <a:latin typeface="Calibri"/>
              </a:rPr>
              <a:t>dello</a:t>
            </a:r>
            <a:r>
              <a:rPr sz="1000" b="0" i="0">
                <a:solidFill>
                  <a:srgbClr val="333333"/>
                </a:solidFill>
                <a:latin typeface="Calibri"/>
              </a:rPr>
              <a:t> </a:t>
            </a:r>
            <a:r>
              <a:rPr sz="1000" b="0" i="0" err="1">
                <a:solidFill>
                  <a:srgbClr val="333333"/>
                </a:solidFill>
                <a:latin typeface="Calibri"/>
              </a:rPr>
              <a:t>stesso</a:t>
            </a:r>
            <a:r>
              <a:rPr sz="1000" b="0" i="0">
                <a:solidFill>
                  <a:srgbClr val="333333"/>
                </a:solidFill>
                <a:latin typeface="Calibri"/>
              </a:rPr>
              <a:t> </a:t>
            </a:r>
            <a:r>
              <a:rPr sz="1000" b="0" i="0" err="1">
                <a:solidFill>
                  <a:srgbClr val="333333"/>
                </a:solidFill>
                <a:latin typeface="Calibri"/>
              </a:rPr>
              <a:t>tessuto</a:t>
            </a:r>
            <a:r>
              <a:rPr sz="1000" b="0" i="0">
                <a:solidFill>
                  <a:srgbClr val="333333"/>
                </a:solidFill>
                <a:latin typeface="Calibri"/>
              </a:rPr>
              <a:t>. Si </a:t>
            </a:r>
            <a:r>
              <a:rPr sz="1000" b="0" i="0" err="1">
                <a:solidFill>
                  <a:srgbClr val="333333"/>
                </a:solidFill>
                <a:latin typeface="Calibri"/>
              </a:rPr>
              <a:t>reggevano</a:t>
            </a:r>
            <a:r>
              <a:rPr sz="1000" b="0" i="0">
                <a:solidFill>
                  <a:srgbClr val="333333"/>
                </a:solidFill>
                <a:latin typeface="Calibri"/>
              </a:rPr>
              <a:t> a </a:t>
            </a:r>
            <a:r>
              <a:rPr sz="1000" b="0" i="0" err="1">
                <a:solidFill>
                  <a:srgbClr val="333333"/>
                </a:solidFill>
                <a:latin typeface="Calibri"/>
              </a:rPr>
              <a:t>vicenda</a:t>
            </a:r>
            <a:r>
              <a:rPr sz="1000" b="0" i="0">
                <a:solidFill>
                  <a:srgbClr val="333333"/>
                </a:solidFill>
                <a:latin typeface="Calibri"/>
              </a:rPr>
              <a:t>. </a:t>
            </a:r>
            <a:r>
              <a:rPr sz="1000" b="0" i="0" err="1">
                <a:solidFill>
                  <a:srgbClr val="333333"/>
                </a:solidFill>
                <a:latin typeface="Calibri"/>
              </a:rPr>
              <a:t>Reggevano</a:t>
            </a:r>
            <a:r>
              <a:rPr sz="1000" b="0" i="0">
                <a:solidFill>
                  <a:srgbClr val="333333"/>
                </a:solidFill>
                <a:latin typeface="Calibri"/>
              </a:rPr>
              <a:t> il </a:t>
            </a:r>
            <a:r>
              <a:rPr sz="1000" b="0" i="0" err="1">
                <a:solidFill>
                  <a:srgbClr val="333333"/>
                </a:solidFill>
                <a:latin typeface="Calibri"/>
              </a:rPr>
              <a:t>quartiere</a:t>
            </a:r>
            <a:r>
              <a:rPr sz="1000" b="0" i="0">
                <a:solidFill>
                  <a:srgbClr val="333333"/>
                </a:solidFill>
                <a:latin typeface="Calibri"/>
              </a:rPr>
              <a:t>.</a:t>
            </a:r>
            <a:endParaRPr sz="1000" b="0" i="0">
              <a:solidFill>
                <a:srgbClr val="333333"/>
              </a:solidFill>
              <a:latin typeface="Calibri"/>
              <a:ea typeface="Calibri"/>
              <a:cs typeface="Calibri"/>
            </a:endParaRPr>
          </a:p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333333"/>
                </a:solidFill>
                <a:latin typeface="Calibri"/>
              </a:rPr>
              <a:t>Quel </a:t>
            </a:r>
            <a:r>
              <a:rPr sz="1000" b="0" i="0" err="1">
                <a:solidFill>
                  <a:srgbClr val="333333"/>
                </a:solidFill>
                <a:latin typeface="Calibri"/>
              </a:rPr>
              <a:t>tessuto</a:t>
            </a:r>
            <a:r>
              <a:rPr sz="1000" b="0" i="0">
                <a:solidFill>
                  <a:srgbClr val="333333"/>
                </a:solidFill>
                <a:latin typeface="Calibri"/>
              </a:rPr>
              <a:t> </a:t>
            </a:r>
            <a:r>
              <a:rPr sz="1000" b="0" i="0" err="1">
                <a:solidFill>
                  <a:srgbClr val="333333"/>
                </a:solidFill>
                <a:latin typeface="Calibri"/>
              </a:rPr>
              <a:t>si</a:t>
            </a:r>
            <a:r>
              <a:rPr sz="1000" b="0" i="0">
                <a:solidFill>
                  <a:srgbClr val="333333"/>
                </a:solidFill>
                <a:latin typeface="Calibri"/>
              </a:rPr>
              <a:t> è </a:t>
            </a:r>
            <a:r>
              <a:rPr sz="1000" b="0" i="0" err="1">
                <a:solidFill>
                  <a:srgbClr val="333333"/>
                </a:solidFill>
                <a:latin typeface="Calibri"/>
              </a:rPr>
              <a:t>sfilacciato</a:t>
            </a:r>
            <a:r>
              <a:rPr sz="1000" b="0" i="0">
                <a:solidFill>
                  <a:srgbClr val="333333"/>
                </a:solidFill>
                <a:latin typeface="Calibri"/>
              </a:rPr>
              <a:t>. </a:t>
            </a:r>
            <a:r>
              <a:rPr sz="1000" b="0" i="0" err="1">
                <a:solidFill>
                  <a:srgbClr val="333333"/>
                </a:solidFill>
                <a:latin typeface="Calibri"/>
              </a:rPr>
              <a:t>Non da</a:t>
            </a:r>
            <a:r>
              <a:rPr sz="1000" b="0" i="0">
                <a:solidFill>
                  <a:srgbClr val="333333"/>
                </a:solidFill>
                <a:latin typeface="Calibri"/>
              </a:rPr>
              <a:t> solo — è </a:t>
            </a:r>
            <a:r>
              <a:rPr sz="1000" b="0" i="0" err="1">
                <a:solidFill>
                  <a:srgbClr val="333333"/>
                </a:solidFill>
                <a:latin typeface="Calibri"/>
              </a:rPr>
              <a:t>stato</a:t>
            </a:r>
            <a:r>
              <a:rPr sz="1000" b="0" i="0">
                <a:solidFill>
                  <a:srgbClr val="333333"/>
                </a:solidFill>
                <a:latin typeface="Calibri"/>
              </a:rPr>
              <a:t> </a:t>
            </a:r>
            <a:r>
              <a:rPr sz="1000" b="0" i="0" err="1">
                <a:solidFill>
                  <a:srgbClr val="333333"/>
                </a:solidFill>
                <a:latin typeface="Calibri"/>
              </a:rPr>
              <a:t>sfilacciato</a:t>
            </a:r>
            <a:r>
              <a:rPr sz="1000" b="0" i="0">
                <a:solidFill>
                  <a:srgbClr val="333333"/>
                </a:solidFill>
                <a:latin typeface="Calibri"/>
              </a:rPr>
              <a:t>. Da </a:t>
            </a:r>
            <a:r>
              <a:rPr sz="1000" b="0" i="0" err="1">
                <a:solidFill>
                  <a:srgbClr val="333333"/>
                </a:solidFill>
                <a:latin typeface="Calibri"/>
              </a:rPr>
              <a:t>logiche</a:t>
            </a:r>
            <a:r>
              <a:rPr sz="1000" b="0" i="0">
                <a:solidFill>
                  <a:srgbClr val="333333"/>
                </a:solidFill>
                <a:latin typeface="Calibri"/>
              </a:rPr>
              <a:t> </a:t>
            </a:r>
            <a:r>
              <a:rPr sz="1000" b="0" i="0" err="1">
                <a:solidFill>
                  <a:srgbClr val="333333"/>
                </a:solidFill>
                <a:latin typeface="Calibri"/>
              </a:rPr>
              <a:t>lontane</a:t>
            </a:r>
            <a:r>
              <a:rPr sz="1000" b="0" i="0">
                <a:solidFill>
                  <a:srgbClr val="333333"/>
                </a:solidFill>
                <a:latin typeface="Calibri"/>
              </a:rPr>
              <a:t> da qui, da </a:t>
            </a:r>
            <a:r>
              <a:rPr sz="1000" b="0" i="0" err="1">
                <a:solidFill>
                  <a:srgbClr val="333333"/>
                </a:solidFill>
                <a:latin typeface="Calibri"/>
              </a:rPr>
              <a:t>interessi</a:t>
            </a:r>
            <a:r>
              <a:rPr sz="1000" b="0" i="0">
                <a:solidFill>
                  <a:srgbClr val="333333"/>
                </a:solidFill>
                <a:latin typeface="Calibri"/>
              </a:rPr>
              <a:t> </a:t>
            </a:r>
            <a:r>
              <a:rPr sz="1000" b="0" i="0" err="1">
                <a:solidFill>
                  <a:srgbClr val="333333"/>
                </a:solidFill>
                <a:latin typeface="Calibri"/>
              </a:rPr>
              <a:t>che</a:t>
            </a:r>
            <a:r>
              <a:rPr sz="1000" b="0" i="0">
                <a:solidFill>
                  <a:srgbClr val="333333"/>
                </a:solidFill>
                <a:latin typeface="Calibri"/>
              </a:rPr>
              <a:t> con la </a:t>
            </a:r>
            <a:r>
              <a:rPr sz="1000" b="0" i="0" err="1">
                <a:solidFill>
                  <a:srgbClr val="333333"/>
                </a:solidFill>
                <a:latin typeface="Calibri"/>
              </a:rPr>
              <a:t>tua</a:t>
            </a:r>
            <a:r>
              <a:rPr sz="1000" b="0" i="0">
                <a:solidFill>
                  <a:srgbClr val="333333"/>
                </a:solidFill>
                <a:latin typeface="Calibri"/>
              </a:rPr>
              <a:t> bottega, il </a:t>
            </a:r>
            <a:r>
              <a:rPr sz="1000" b="0" i="0" err="1">
                <a:solidFill>
                  <a:srgbClr val="333333"/>
                </a:solidFill>
                <a:latin typeface="Calibri"/>
              </a:rPr>
              <a:t>tuo</a:t>
            </a:r>
            <a:r>
              <a:rPr sz="1000" b="0" i="0">
                <a:solidFill>
                  <a:srgbClr val="333333"/>
                </a:solidFill>
                <a:latin typeface="Calibri"/>
              </a:rPr>
              <a:t> </a:t>
            </a:r>
            <a:r>
              <a:rPr sz="1000" b="0" i="0" err="1">
                <a:solidFill>
                  <a:srgbClr val="333333"/>
                </a:solidFill>
                <a:latin typeface="Calibri"/>
              </a:rPr>
              <a:t>negozio</a:t>
            </a:r>
            <a:r>
              <a:rPr sz="1000" b="0" i="0">
                <a:solidFill>
                  <a:srgbClr val="333333"/>
                </a:solidFill>
                <a:latin typeface="Calibri"/>
              </a:rPr>
              <a:t>, la </a:t>
            </a:r>
            <a:r>
              <a:rPr sz="1000" b="0" i="0" err="1">
                <a:solidFill>
                  <a:srgbClr val="333333"/>
                </a:solidFill>
                <a:latin typeface="Calibri"/>
              </a:rPr>
              <a:t>tua</a:t>
            </a:r>
            <a:r>
              <a:rPr sz="1000" b="0" i="0">
                <a:solidFill>
                  <a:srgbClr val="333333"/>
                </a:solidFill>
                <a:latin typeface="Calibri"/>
              </a:rPr>
              <a:t> </a:t>
            </a:r>
            <a:r>
              <a:rPr sz="1000" b="0" i="0" err="1">
                <a:solidFill>
                  <a:srgbClr val="333333"/>
                </a:solidFill>
                <a:latin typeface="Calibri"/>
              </a:rPr>
              <a:t>famiglia</a:t>
            </a:r>
            <a:r>
              <a:rPr sz="1000" b="0" i="0">
                <a:solidFill>
                  <a:srgbClr val="333333"/>
                </a:solidFill>
                <a:latin typeface="Calibri"/>
              </a:rPr>
              <a:t> non </a:t>
            </a:r>
            <a:r>
              <a:rPr sz="1000" b="0" i="0" err="1">
                <a:solidFill>
                  <a:srgbClr val="333333"/>
                </a:solidFill>
                <a:latin typeface="Calibri"/>
              </a:rPr>
              <a:t>hanno</a:t>
            </a:r>
            <a:r>
              <a:rPr sz="1000" b="0" i="0">
                <a:solidFill>
                  <a:srgbClr val="333333"/>
                </a:solidFill>
                <a:latin typeface="Calibri"/>
              </a:rPr>
              <a:t> </a:t>
            </a:r>
            <a:r>
              <a:rPr sz="1000" b="0" i="0" err="1">
                <a:solidFill>
                  <a:srgbClr val="333333"/>
                </a:solidFill>
                <a:latin typeface="Calibri"/>
              </a:rPr>
              <a:t>nulla</a:t>
            </a:r>
            <a:r>
              <a:rPr sz="1000" b="0" i="0">
                <a:solidFill>
                  <a:srgbClr val="333333"/>
                </a:solidFill>
                <a:latin typeface="Calibri"/>
              </a:rPr>
              <a:t> a </a:t>
            </a:r>
            <a:r>
              <a:rPr sz="1000" b="0" i="0" err="1">
                <a:solidFill>
                  <a:srgbClr val="333333"/>
                </a:solidFill>
                <a:latin typeface="Calibri"/>
              </a:rPr>
              <a:t>che</a:t>
            </a:r>
            <a:r>
              <a:rPr sz="1000" b="0" i="0">
                <a:solidFill>
                  <a:srgbClr val="333333"/>
                </a:solidFill>
                <a:latin typeface="Calibri"/>
              </a:rPr>
              <a:t> fare.</a:t>
            </a:r>
            <a:endParaRPr sz="1000" b="0" i="0">
              <a:solidFill>
                <a:srgbClr val="333333"/>
              </a:solidFill>
              <a:latin typeface="Calibri"/>
              <a:ea typeface="Calibri"/>
              <a:cs typeface="Calibri"/>
            </a:endParaRPr>
          </a:p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1A3A5C"/>
                </a:solidFill>
                <a:latin typeface="Calibri"/>
              </a:rPr>
              <a:t>Salute </a:t>
            </a:r>
            <a:r>
              <a:rPr sz="1000" b="0" i="0" err="1">
                <a:solidFill>
                  <a:srgbClr val="1A3A5C"/>
                </a:solidFill>
                <a:latin typeface="Calibri"/>
              </a:rPr>
              <a:t>Quotidiana</a:t>
            </a:r>
            <a:r>
              <a:rPr sz="1000" b="0" i="0">
                <a:solidFill>
                  <a:srgbClr val="1A3A5C"/>
                </a:solidFill>
                <a:latin typeface="Calibri"/>
              </a:rPr>
              <a:t> </a:t>
            </a:r>
            <a:r>
              <a:rPr sz="1000" b="0" i="0" err="1">
                <a:solidFill>
                  <a:srgbClr val="1A3A5C"/>
                </a:solidFill>
                <a:latin typeface="Calibri"/>
              </a:rPr>
              <a:t>nasce</a:t>
            </a:r>
            <a:r>
              <a:rPr sz="1000" b="0" i="0">
                <a:solidFill>
                  <a:srgbClr val="1A3A5C"/>
                </a:solidFill>
                <a:latin typeface="Calibri"/>
              </a:rPr>
              <a:t> da </a:t>
            </a:r>
            <a:r>
              <a:rPr sz="1000" b="0" i="0" err="1">
                <a:solidFill>
                  <a:srgbClr val="1A3A5C"/>
                </a:solidFill>
                <a:latin typeface="Calibri"/>
              </a:rPr>
              <a:t>una</a:t>
            </a:r>
            <a:r>
              <a:rPr sz="1000" b="0" i="0">
                <a:solidFill>
                  <a:srgbClr val="1A3A5C"/>
                </a:solidFill>
                <a:latin typeface="Calibri"/>
              </a:rPr>
              <a:t> </a:t>
            </a:r>
            <a:r>
              <a:rPr sz="1000" b="0" i="0" err="1">
                <a:solidFill>
                  <a:srgbClr val="1A3A5C"/>
                </a:solidFill>
                <a:latin typeface="Calibri"/>
              </a:rPr>
              <a:t>domanda</a:t>
            </a:r>
            <a:r>
              <a:rPr sz="1000" b="0" i="0">
                <a:solidFill>
                  <a:srgbClr val="1A3A5C"/>
                </a:solidFill>
                <a:latin typeface="Calibri"/>
              </a:rPr>
              <a:t> semplice: e se ogni </a:t>
            </a:r>
            <a:r>
              <a:rPr sz="1000" b="0" i="0" err="1">
                <a:solidFill>
                  <a:srgbClr val="1A3A5C"/>
                </a:solidFill>
                <a:latin typeface="Calibri"/>
              </a:rPr>
              <a:t>gesto</a:t>
            </a:r>
            <a:r>
              <a:rPr sz="1000" b="0" i="0">
                <a:solidFill>
                  <a:srgbClr val="1A3A5C"/>
                </a:solidFill>
                <a:latin typeface="Calibri"/>
              </a:rPr>
              <a:t> </a:t>
            </a:r>
            <a:r>
              <a:rPr sz="1000" b="0" i="0" err="1">
                <a:solidFill>
                  <a:srgbClr val="1A3A5C"/>
                </a:solidFill>
                <a:latin typeface="Calibri"/>
              </a:rPr>
              <a:t>quotidiano</a:t>
            </a:r>
            <a:r>
              <a:rPr sz="1000" b="0" i="0">
                <a:solidFill>
                  <a:srgbClr val="1A3A5C"/>
                </a:solidFill>
                <a:latin typeface="Calibri"/>
              </a:rPr>
              <a:t> — </a:t>
            </a:r>
            <a:r>
              <a:rPr sz="1000" b="0" i="0" err="1">
                <a:solidFill>
                  <a:srgbClr val="1A3A5C"/>
                </a:solidFill>
                <a:latin typeface="Calibri"/>
              </a:rPr>
              <a:t>una</a:t>
            </a:r>
            <a:r>
              <a:rPr sz="1000" b="0" i="0">
                <a:solidFill>
                  <a:srgbClr val="1A3A5C"/>
                </a:solidFill>
                <a:latin typeface="Calibri"/>
              </a:rPr>
              <a:t> </a:t>
            </a:r>
            <a:r>
              <a:rPr sz="1000" b="0" i="0" err="1">
                <a:solidFill>
                  <a:srgbClr val="1A3A5C"/>
                </a:solidFill>
                <a:latin typeface="Calibri"/>
              </a:rPr>
              <a:t>spesa</a:t>
            </a:r>
            <a:r>
              <a:rPr sz="1000" b="0" i="0">
                <a:solidFill>
                  <a:srgbClr val="1A3A5C"/>
                </a:solidFill>
                <a:latin typeface="Calibri"/>
              </a:rPr>
              <a:t>, un caffè, un </a:t>
            </a:r>
            <a:r>
              <a:rPr sz="1000" b="0" i="0" err="1">
                <a:solidFill>
                  <a:srgbClr val="1A3A5C"/>
                </a:solidFill>
                <a:latin typeface="Calibri"/>
              </a:rPr>
              <a:t>acquisto</a:t>
            </a:r>
            <a:r>
              <a:rPr sz="1000" b="0" i="0">
                <a:solidFill>
                  <a:srgbClr val="1A3A5C"/>
                </a:solidFill>
                <a:latin typeface="Calibri"/>
              </a:rPr>
              <a:t> — </a:t>
            </a:r>
            <a:r>
              <a:rPr sz="1000" b="0" i="0" err="1">
                <a:solidFill>
                  <a:srgbClr val="1A3A5C"/>
                </a:solidFill>
                <a:latin typeface="Calibri"/>
              </a:rPr>
              <a:t>diventasse</a:t>
            </a:r>
            <a:r>
              <a:rPr sz="1000" b="0" i="0">
                <a:solidFill>
                  <a:srgbClr val="1A3A5C"/>
                </a:solidFill>
                <a:latin typeface="Calibri"/>
              </a:rPr>
              <a:t> un </a:t>
            </a:r>
            <a:r>
              <a:rPr sz="1000" b="0" i="0" err="1">
                <a:solidFill>
                  <a:srgbClr val="1A3A5C"/>
                </a:solidFill>
                <a:latin typeface="Calibri"/>
              </a:rPr>
              <a:t>atto</a:t>
            </a:r>
            <a:r>
              <a:rPr sz="1000" b="0" i="0">
                <a:solidFill>
                  <a:srgbClr val="1A3A5C"/>
                </a:solidFill>
                <a:latin typeface="Calibri"/>
              </a:rPr>
              <a:t> di cura verso </a:t>
            </a:r>
            <a:r>
              <a:rPr sz="1000" b="0" i="0" err="1">
                <a:solidFill>
                  <a:srgbClr val="1A3A5C"/>
                </a:solidFill>
                <a:latin typeface="Calibri"/>
              </a:rPr>
              <a:t>qualcuno</a:t>
            </a:r>
            <a:r>
              <a:rPr sz="1000" b="0" i="0">
                <a:solidFill>
                  <a:srgbClr val="1A3A5C"/>
                </a:solidFill>
                <a:latin typeface="Calibri"/>
              </a:rPr>
              <a:t> della </a:t>
            </a:r>
            <a:r>
              <a:rPr sz="1000" b="0" i="0" err="1">
                <a:solidFill>
                  <a:srgbClr val="1A3A5C"/>
                </a:solidFill>
                <a:latin typeface="Calibri"/>
              </a:rPr>
              <a:t>tua</a:t>
            </a:r>
            <a:r>
              <a:rPr sz="1000" b="0" i="0">
                <a:solidFill>
                  <a:srgbClr val="1A3A5C"/>
                </a:solidFill>
                <a:latin typeface="Calibri"/>
              </a:rPr>
              <a:t> </a:t>
            </a:r>
            <a:r>
              <a:rPr sz="1000" b="0" i="0" err="1">
                <a:solidFill>
                  <a:srgbClr val="1A3A5C"/>
                </a:solidFill>
                <a:latin typeface="Calibri"/>
              </a:rPr>
              <a:t>comunità</a:t>
            </a:r>
            <a:r>
              <a:rPr sz="1000" b="0" i="0">
                <a:solidFill>
                  <a:srgbClr val="1A3A5C"/>
                </a:solidFill>
                <a:latin typeface="Calibri"/>
              </a:rPr>
              <a:t>?</a:t>
            </a:r>
            <a:endParaRPr sz="1000" b="0" i="0">
              <a:solidFill>
                <a:srgbClr val="1A3A5C"/>
              </a:solidFill>
              <a:latin typeface="Calibri"/>
              <a:ea typeface="Calibri"/>
              <a:cs typeface="Calibri"/>
            </a:endParaRPr>
          </a:p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333333"/>
                </a:solidFill>
                <a:latin typeface="Calibri"/>
              </a:rPr>
              <a:t>Non charity. Non </a:t>
            </a:r>
            <a:r>
              <a:rPr sz="1000" b="0" i="0" err="1">
                <a:solidFill>
                  <a:srgbClr val="333333"/>
                </a:solidFill>
                <a:latin typeface="Calibri"/>
              </a:rPr>
              <a:t>beneficenza</a:t>
            </a:r>
            <a:r>
              <a:rPr sz="1000" b="0" i="0">
                <a:solidFill>
                  <a:srgbClr val="333333"/>
                </a:solidFill>
                <a:latin typeface="Calibri"/>
              </a:rPr>
              <a:t>. Un </a:t>
            </a:r>
            <a:r>
              <a:rPr sz="1000" b="0" i="0" err="1">
                <a:solidFill>
                  <a:srgbClr val="333333"/>
                </a:solidFill>
                <a:latin typeface="Calibri"/>
              </a:rPr>
              <a:t>meccanismo</a:t>
            </a:r>
            <a:r>
              <a:rPr sz="1000" b="0" i="0">
                <a:solidFill>
                  <a:srgbClr val="333333"/>
                </a:solidFill>
                <a:latin typeface="Calibri"/>
              </a:rPr>
              <a:t> </a:t>
            </a:r>
            <a:r>
              <a:rPr sz="1000" b="0" i="0" err="1">
                <a:solidFill>
                  <a:srgbClr val="333333"/>
                </a:solidFill>
                <a:latin typeface="Calibri"/>
              </a:rPr>
              <a:t>concreto</a:t>
            </a:r>
            <a:r>
              <a:rPr sz="1000" b="0" i="0">
                <a:solidFill>
                  <a:srgbClr val="333333"/>
                </a:solidFill>
                <a:latin typeface="Calibri"/>
              </a:rPr>
              <a:t>, </a:t>
            </a:r>
            <a:r>
              <a:rPr sz="1000" b="0" i="0" err="1">
                <a:solidFill>
                  <a:srgbClr val="333333"/>
                </a:solidFill>
                <a:latin typeface="Calibri"/>
              </a:rPr>
              <a:t>misurabile</a:t>
            </a:r>
            <a:r>
              <a:rPr sz="1000" b="0" i="0">
                <a:solidFill>
                  <a:srgbClr val="333333"/>
                </a:solidFill>
                <a:latin typeface="Calibri"/>
              </a:rPr>
              <a:t>, </a:t>
            </a:r>
            <a:r>
              <a:rPr sz="1000" b="0" i="0" err="1">
                <a:solidFill>
                  <a:srgbClr val="333333"/>
                </a:solidFill>
                <a:latin typeface="Calibri"/>
              </a:rPr>
              <a:t>sostenibile</a:t>
            </a:r>
            <a:r>
              <a:rPr sz="1000" b="0" i="0">
                <a:solidFill>
                  <a:srgbClr val="333333"/>
                </a:solidFill>
                <a:latin typeface="Calibri"/>
              </a:rPr>
              <a:t> — dove chi </a:t>
            </a:r>
            <a:r>
              <a:rPr sz="1000" b="0" i="0" err="1">
                <a:solidFill>
                  <a:srgbClr val="333333"/>
                </a:solidFill>
                <a:latin typeface="Calibri"/>
              </a:rPr>
              <a:t>compra</a:t>
            </a:r>
            <a:r>
              <a:rPr sz="1000" b="0" i="0">
                <a:solidFill>
                  <a:srgbClr val="333333"/>
                </a:solidFill>
                <a:latin typeface="Calibri"/>
              </a:rPr>
              <a:t> </a:t>
            </a:r>
            <a:r>
              <a:rPr sz="1000" b="0" i="0" err="1">
                <a:solidFill>
                  <a:srgbClr val="333333"/>
                </a:solidFill>
                <a:latin typeface="Calibri"/>
              </a:rPr>
              <a:t>accumula</a:t>
            </a:r>
            <a:r>
              <a:rPr sz="1000" b="0" i="0">
                <a:solidFill>
                  <a:srgbClr val="333333"/>
                </a:solidFill>
                <a:latin typeface="Calibri"/>
              </a:rPr>
              <a:t> salute, chi </a:t>
            </a:r>
            <a:r>
              <a:rPr sz="1000" b="0" i="0" err="1">
                <a:solidFill>
                  <a:srgbClr val="333333"/>
                </a:solidFill>
                <a:latin typeface="Calibri"/>
              </a:rPr>
              <a:t>vende</a:t>
            </a:r>
            <a:r>
              <a:rPr sz="1000" b="0" i="0">
                <a:solidFill>
                  <a:srgbClr val="333333"/>
                </a:solidFill>
                <a:latin typeface="Calibri"/>
              </a:rPr>
              <a:t> </a:t>
            </a:r>
            <a:r>
              <a:rPr sz="1000" b="0" i="0" err="1">
                <a:solidFill>
                  <a:srgbClr val="333333"/>
                </a:solidFill>
                <a:latin typeface="Calibri"/>
              </a:rPr>
              <a:t>costruisce</a:t>
            </a:r>
            <a:r>
              <a:rPr sz="1000" b="0" i="0">
                <a:solidFill>
                  <a:srgbClr val="333333"/>
                </a:solidFill>
                <a:latin typeface="Calibri"/>
              </a:rPr>
              <a:t> fiducia, chi cura </a:t>
            </a:r>
            <a:r>
              <a:rPr sz="1000" b="0" i="0" err="1">
                <a:solidFill>
                  <a:srgbClr val="333333"/>
                </a:solidFill>
                <a:latin typeface="Calibri"/>
              </a:rPr>
              <a:t>riceve</a:t>
            </a:r>
            <a:r>
              <a:rPr sz="1000" b="0" i="0">
                <a:solidFill>
                  <a:srgbClr val="333333"/>
                </a:solidFill>
                <a:latin typeface="Calibri"/>
              </a:rPr>
              <a:t> </a:t>
            </a:r>
            <a:r>
              <a:rPr sz="1000" b="0" i="0" err="1">
                <a:solidFill>
                  <a:srgbClr val="333333"/>
                </a:solidFill>
                <a:latin typeface="Calibri"/>
              </a:rPr>
              <a:t>dignità</a:t>
            </a:r>
            <a:r>
              <a:rPr sz="1000" b="0" i="0">
                <a:solidFill>
                  <a:srgbClr val="333333"/>
                </a:solidFill>
                <a:latin typeface="Calibri"/>
              </a:rPr>
              <a:t> </a:t>
            </a:r>
            <a:r>
              <a:rPr sz="1000" b="0" i="0" err="1">
                <a:solidFill>
                  <a:srgbClr val="333333"/>
                </a:solidFill>
                <a:latin typeface="Calibri"/>
              </a:rPr>
              <a:t>economica</a:t>
            </a:r>
            <a:r>
              <a:rPr sz="1000" b="0" i="0">
                <a:solidFill>
                  <a:srgbClr val="333333"/>
                </a:solidFill>
                <a:latin typeface="Calibri"/>
              </a:rPr>
              <a:t>.</a:t>
            </a:r>
            <a:endParaRPr sz="1000" b="0" i="0">
              <a:solidFill>
                <a:srgbClr val="333333"/>
              </a:solidFill>
              <a:latin typeface="Calibri"/>
              <a:ea typeface="Calibri"/>
              <a:cs typeface="Calibri"/>
            </a:endParaRPr>
          </a:p>
          <a:p>
            <a:pPr algn="l">
              <a:spcBef>
                <a:spcPts val="100"/>
              </a:spcBef>
            </a:pPr>
            <a:r>
              <a:rPr sz="1000" b="0" i="0" err="1">
                <a:solidFill>
                  <a:srgbClr val="333333"/>
                </a:solidFill>
                <a:latin typeface="Calibri"/>
              </a:rPr>
              <a:t>Nessuno</a:t>
            </a:r>
            <a:r>
              <a:rPr sz="1000" b="0" i="0">
                <a:solidFill>
                  <a:srgbClr val="333333"/>
                </a:solidFill>
                <a:latin typeface="Calibri"/>
              </a:rPr>
              <a:t> </a:t>
            </a:r>
            <a:r>
              <a:rPr sz="1000" b="0" i="0" err="1">
                <a:solidFill>
                  <a:srgbClr val="333333"/>
                </a:solidFill>
                <a:latin typeface="Calibri"/>
              </a:rPr>
              <a:t>si</a:t>
            </a:r>
            <a:r>
              <a:rPr sz="1000" b="0" i="0">
                <a:solidFill>
                  <a:srgbClr val="333333"/>
                </a:solidFill>
                <a:latin typeface="Calibri"/>
              </a:rPr>
              <a:t> </a:t>
            </a:r>
            <a:r>
              <a:rPr sz="1000" b="0" i="0" err="1">
                <a:solidFill>
                  <a:srgbClr val="333333"/>
                </a:solidFill>
                <a:latin typeface="Calibri"/>
              </a:rPr>
              <a:t>arricchisce</a:t>
            </a:r>
            <a:r>
              <a:rPr sz="1000" b="0" i="0">
                <a:solidFill>
                  <a:srgbClr val="333333"/>
                </a:solidFill>
                <a:latin typeface="Calibri"/>
              </a:rPr>
              <a:t> </a:t>
            </a:r>
            <a:r>
              <a:rPr sz="1000" b="0" i="0" err="1">
                <a:solidFill>
                  <a:srgbClr val="333333"/>
                </a:solidFill>
                <a:latin typeface="Calibri"/>
              </a:rPr>
              <a:t>sulle</a:t>
            </a:r>
            <a:r>
              <a:rPr sz="1000" b="0" i="0">
                <a:solidFill>
                  <a:srgbClr val="333333"/>
                </a:solidFill>
                <a:latin typeface="Calibri"/>
              </a:rPr>
              <a:t> </a:t>
            </a:r>
            <a:r>
              <a:rPr sz="1000" b="0" i="0" err="1">
                <a:solidFill>
                  <a:srgbClr val="333333"/>
                </a:solidFill>
                <a:latin typeface="Calibri"/>
              </a:rPr>
              <a:t>spalle</a:t>
            </a:r>
            <a:r>
              <a:rPr sz="1000" b="0" i="0">
                <a:solidFill>
                  <a:srgbClr val="333333"/>
                </a:solidFill>
                <a:latin typeface="Calibri"/>
              </a:rPr>
              <a:t> degli </a:t>
            </a:r>
            <a:r>
              <a:rPr sz="1000" b="0" i="0" err="1">
                <a:solidFill>
                  <a:srgbClr val="333333"/>
                </a:solidFill>
                <a:latin typeface="Calibri"/>
              </a:rPr>
              <a:t>altri</a:t>
            </a:r>
            <a:r>
              <a:rPr sz="1000" b="0" i="0">
                <a:solidFill>
                  <a:srgbClr val="333333"/>
                </a:solidFill>
                <a:latin typeface="Calibri"/>
              </a:rPr>
              <a:t>. Il </a:t>
            </a:r>
            <a:r>
              <a:rPr sz="1000" b="0" i="0" err="1">
                <a:solidFill>
                  <a:srgbClr val="333333"/>
                </a:solidFill>
                <a:latin typeface="Calibri"/>
              </a:rPr>
              <a:t>valore</a:t>
            </a:r>
            <a:r>
              <a:rPr sz="1000" b="0" i="0">
                <a:solidFill>
                  <a:srgbClr val="333333"/>
                </a:solidFill>
                <a:latin typeface="Calibri"/>
              </a:rPr>
              <a:t> </a:t>
            </a:r>
            <a:r>
              <a:rPr sz="1000" b="0" i="0" err="1">
                <a:solidFill>
                  <a:srgbClr val="333333"/>
                </a:solidFill>
                <a:latin typeface="Calibri"/>
              </a:rPr>
              <a:t>rimane</a:t>
            </a:r>
            <a:r>
              <a:rPr sz="1000" b="0" i="0">
                <a:solidFill>
                  <a:srgbClr val="333333"/>
                </a:solidFill>
                <a:latin typeface="Calibri"/>
              </a:rPr>
              <a:t> qui, </a:t>
            </a:r>
            <a:r>
              <a:rPr sz="1000" b="0" i="0" err="1">
                <a:solidFill>
                  <a:srgbClr val="333333"/>
                </a:solidFill>
                <a:latin typeface="Calibri"/>
              </a:rPr>
              <a:t>circola</a:t>
            </a:r>
            <a:r>
              <a:rPr sz="1000" b="0" i="0">
                <a:solidFill>
                  <a:srgbClr val="333333"/>
                </a:solidFill>
                <a:latin typeface="Calibri"/>
              </a:rPr>
              <a:t> qui, serve qui.</a:t>
            </a:r>
            <a:endParaRPr sz="1000" b="0" i="0">
              <a:solidFill>
                <a:srgbClr val="333333"/>
              </a:solidFill>
              <a:latin typeface="Calibri"/>
              <a:ea typeface="Calibri"/>
              <a:cs typeface="Calibri"/>
            </a:endParaRPr>
          </a:p>
          <a:p>
            <a:pPr algn="l">
              <a:spcBef>
                <a:spcPts val="200"/>
              </a:spcBef>
            </a:pPr>
            <a:r>
              <a:rPr sz="1000" b="0" i="0" err="1">
                <a:solidFill>
                  <a:srgbClr val="333333"/>
                </a:solidFill>
                <a:latin typeface="Calibri"/>
              </a:rPr>
              <a:t>Aderire</a:t>
            </a:r>
            <a:r>
              <a:rPr sz="1000" b="0" i="0">
                <a:solidFill>
                  <a:srgbClr val="333333"/>
                </a:solidFill>
                <a:latin typeface="Calibri"/>
              </a:rPr>
              <a:t> a Salute </a:t>
            </a:r>
            <a:r>
              <a:rPr sz="1000" b="0" i="0" err="1">
                <a:solidFill>
                  <a:srgbClr val="333333"/>
                </a:solidFill>
                <a:latin typeface="Calibri"/>
              </a:rPr>
              <a:t>Quotidiana</a:t>
            </a:r>
            <a:r>
              <a:rPr sz="1000" b="0" i="0">
                <a:solidFill>
                  <a:srgbClr val="333333"/>
                </a:solidFill>
                <a:latin typeface="Calibri"/>
              </a:rPr>
              <a:t> non è </a:t>
            </a:r>
            <a:r>
              <a:rPr sz="1000" b="0" i="0" err="1">
                <a:solidFill>
                  <a:srgbClr val="333333"/>
                </a:solidFill>
                <a:latin typeface="Calibri"/>
              </a:rPr>
              <a:t>una</a:t>
            </a:r>
            <a:r>
              <a:rPr sz="1000" b="0" i="0">
                <a:solidFill>
                  <a:srgbClr val="333333"/>
                </a:solidFill>
                <a:latin typeface="Calibri"/>
              </a:rPr>
              <a:t> </a:t>
            </a:r>
            <a:r>
              <a:rPr sz="1000" b="0" i="0" err="1">
                <a:solidFill>
                  <a:srgbClr val="333333"/>
                </a:solidFill>
                <a:latin typeface="Calibri"/>
              </a:rPr>
              <a:t>scelta</a:t>
            </a:r>
            <a:r>
              <a:rPr sz="1000" b="0" i="0">
                <a:solidFill>
                  <a:srgbClr val="333333"/>
                </a:solidFill>
                <a:latin typeface="Calibri"/>
              </a:rPr>
              <a:t> di marketing. È </a:t>
            </a:r>
            <a:r>
              <a:rPr sz="1000" b="0" i="0" err="1">
                <a:solidFill>
                  <a:srgbClr val="333333"/>
                </a:solidFill>
                <a:latin typeface="Calibri"/>
              </a:rPr>
              <a:t>una</a:t>
            </a:r>
            <a:r>
              <a:rPr sz="1000" b="0" i="0">
                <a:solidFill>
                  <a:srgbClr val="333333"/>
                </a:solidFill>
                <a:latin typeface="Calibri"/>
              </a:rPr>
              <a:t> </a:t>
            </a:r>
            <a:r>
              <a:rPr sz="1000" b="0" i="0" err="1">
                <a:solidFill>
                  <a:srgbClr val="333333"/>
                </a:solidFill>
                <a:latin typeface="Calibri"/>
              </a:rPr>
              <a:t>scelta</a:t>
            </a:r>
            <a:r>
              <a:rPr sz="1000" b="0" i="0">
                <a:solidFill>
                  <a:srgbClr val="333333"/>
                </a:solidFill>
                <a:latin typeface="Calibri"/>
              </a:rPr>
              <a:t> di campo. È </a:t>
            </a:r>
            <a:r>
              <a:rPr sz="1000" b="0" i="0" err="1">
                <a:solidFill>
                  <a:srgbClr val="333333"/>
                </a:solidFill>
                <a:latin typeface="Calibri"/>
              </a:rPr>
              <a:t>decidere</a:t>
            </a:r>
            <a:r>
              <a:rPr sz="1000" b="0" i="0">
                <a:solidFill>
                  <a:srgbClr val="333333"/>
                </a:solidFill>
                <a:latin typeface="Calibri"/>
              </a:rPr>
              <a:t>, con un </a:t>
            </a:r>
            <a:r>
              <a:rPr sz="1000" b="0" i="0" err="1">
                <a:solidFill>
                  <a:srgbClr val="333333"/>
                </a:solidFill>
                <a:latin typeface="Calibri"/>
              </a:rPr>
              <a:t>gesto</a:t>
            </a:r>
            <a:r>
              <a:rPr sz="1000" b="0" i="0">
                <a:solidFill>
                  <a:srgbClr val="333333"/>
                </a:solidFill>
                <a:latin typeface="Calibri"/>
              </a:rPr>
              <a:t> piccolo e </a:t>
            </a:r>
            <a:r>
              <a:rPr sz="1000" b="0" i="0" err="1">
                <a:solidFill>
                  <a:srgbClr val="333333"/>
                </a:solidFill>
                <a:latin typeface="Calibri"/>
              </a:rPr>
              <a:t>quotidiano</a:t>
            </a:r>
            <a:r>
              <a:rPr sz="1000" b="0" i="0">
                <a:solidFill>
                  <a:srgbClr val="333333"/>
                </a:solidFill>
                <a:latin typeface="Calibri"/>
              </a:rPr>
              <a:t>, </a:t>
            </a:r>
            <a:r>
              <a:rPr sz="1000" b="0" i="0" err="1">
                <a:solidFill>
                  <a:srgbClr val="333333"/>
                </a:solidFill>
                <a:latin typeface="Calibri"/>
              </a:rPr>
              <a:t>che</a:t>
            </a:r>
            <a:r>
              <a:rPr sz="1000" b="0" i="0">
                <a:solidFill>
                  <a:srgbClr val="333333"/>
                </a:solidFill>
                <a:latin typeface="Calibri"/>
              </a:rPr>
              <a:t> </a:t>
            </a:r>
            <a:r>
              <a:rPr sz="1000" b="0" i="0" err="1">
                <a:solidFill>
                  <a:srgbClr val="333333"/>
                </a:solidFill>
                <a:latin typeface="Calibri"/>
              </a:rPr>
              <a:t>esiste</a:t>
            </a:r>
            <a:r>
              <a:rPr sz="1000" b="0" i="0">
                <a:solidFill>
                  <a:srgbClr val="333333"/>
                </a:solidFill>
                <a:latin typeface="Calibri"/>
              </a:rPr>
              <a:t> un </a:t>
            </a:r>
            <a:r>
              <a:rPr sz="1000" b="0" i="0" err="1">
                <a:solidFill>
                  <a:srgbClr val="333333"/>
                </a:solidFill>
                <a:latin typeface="Calibri"/>
              </a:rPr>
              <a:t>altro</a:t>
            </a:r>
            <a:r>
              <a:rPr sz="1000" b="0" i="0">
                <a:solidFill>
                  <a:srgbClr val="333333"/>
                </a:solidFill>
                <a:latin typeface="Calibri"/>
              </a:rPr>
              <a:t> modo di stare </a:t>
            </a:r>
            <a:r>
              <a:rPr sz="1000" b="0" i="0" err="1">
                <a:solidFill>
                  <a:srgbClr val="333333"/>
                </a:solidFill>
                <a:latin typeface="Calibri"/>
              </a:rPr>
              <a:t>nel</a:t>
            </a:r>
            <a:r>
              <a:rPr sz="1000" b="0" i="0">
                <a:solidFill>
                  <a:srgbClr val="333333"/>
                </a:solidFill>
                <a:latin typeface="Calibri"/>
              </a:rPr>
              <a:t> mondo.</a:t>
            </a:r>
            <a:endParaRPr sz="1000" b="0" i="0">
              <a:solidFill>
                <a:srgbClr val="333333"/>
              </a:solidFill>
              <a:latin typeface="Calibri"/>
              <a:ea typeface="Calibri"/>
              <a:cs typeface="Calibri"/>
            </a:endParaRPr>
          </a:p>
          <a:p>
            <a:pPr algn="l">
              <a:spcBef>
                <a:spcPts val="300"/>
              </a:spcBef>
            </a:pPr>
            <a:r>
              <a:rPr sz="1000" b="1" i="0">
                <a:solidFill>
                  <a:srgbClr val="1A3A5C"/>
                </a:solidFill>
                <a:latin typeface="Calibri"/>
              </a:rPr>
              <a:t>E </a:t>
            </a:r>
            <a:r>
              <a:rPr sz="1000" b="1" i="0" err="1">
                <a:solidFill>
                  <a:srgbClr val="1A3A5C"/>
                </a:solidFill>
                <a:latin typeface="Calibri"/>
              </a:rPr>
              <a:t>che</a:t>
            </a:r>
            <a:r>
              <a:rPr sz="1000" b="1" i="0">
                <a:solidFill>
                  <a:srgbClr val="1A3A5C"/>
                </a:solidFill>
                <a:latin typeface="Calibri"/>
              </a:rPr>
              <a:t> </a:t>
            </a:r>
            <a:r>
              <a:rPr sz="1000" b="1" i="0" err="1">
                <a:solidFill>
                  <a:srgbClr val="1A3A5C"/>
                </a:solidFill>
                <a:latin typeface="Calibri"/>
              </a:rPr>
              <a:t>quel</a:t>
            </a:r>
            <a:r>
              <a:rPr sz="1000" b="1" i="0">
                <a:solidFill>
                  <a:srgbClr val="1A3A5C"/>
                </a:solidFill>
                <a:latin typeface="Calibri"/>
              </a:rPr>
              <a:t> mondo </a:t>
            </a:r>
            <a:r>
              <a:rPr sz="1000" b="1" i="0" err="1">
                <a:solidFill>
                  <a:srgbClr val="1A3A5C"/>
                </a:solidFill>
                <a:latin typeface="Calibri"/>
              </a:rPr>
              <a:t>comincia</a:t>
            </a:r>
            <a:r>
              <a:rPr sz="1000" b="1" i="0">
                <a:solidFill>
                  <a:srgbClr val="1A3A5C"/>
                </a:solidFill>
                <a:latin typeface="Calibri"/>
              </a:rPr>
              <a:t> dal </a:t>
            </a:r>
            <a:r>
              <a:rPr sz="1000" b="1" i="0" err="1">
                <a:solidFill>
                  <a:srgbClr val="1A3A5C"/>
                </a:solidFill>
                <a:latin typeface="Calibri"/>
              </a:rPr>
              <a:t>tuo</a:t>
            </a:r>
            <a:r>
              <a:rPr sz="1000" b="1" i="0">
                <a:solidFill>
                  <a:srgbClr val="1A3A5C"/>
                </a:solidFill>
                <a:latin typeface="Calibri"/>
              </a:rPr>
              <a:t> </a:t>
            </a:r>
            <a:r>
              <a:rPr sz="1000" b="1" i="0" err="1">
                <a:solidFill>
                  <a:srgbClr val="1A3A5C"/>
                </a:solidFill>
                <a:latin typeface="Calibri"/>
              </a:rPr>
              <a:t>negozio</a:t>
            </a:r>
            <a:r>
              <a:rPr sz="1000" b="1" i="0">
                <a:solidFill>
                  <a:srgbClr val="1A3A5C"/>
                </a:solidFill>
                <a:latin typeface="Calibri"/>
              </a:rPr>
              <a:t>.</a:t>
            </a:r>
            <a:endParaRPr sz="1000" b="1" i="0">
              <a:solidFill>
                <a:srgbClr val="1A3A5C"/>
              </a:solidFill>
              <a:latin typeface="Calibri"/>
              <a:ea typeface="Calibri"/>
              <a:cs typeface="Calibri"/>
            </a:endParaRPr>
          </a:p>
          <a:p>
            <a:pPr algn="l">
              <a:spcBef>
                <a:spcPts val="300"/>
              </a:spcBef>
            </a:pPr>
            <a:r>
              <a:rPr sz="1000" b="0" i="1">
                <a:solidFill>
                  <a:srgbClr val="2D6A4F"/>
                </a:solidFill>
                <a:latin typeface="Calibri"/>
              </a:rPr>
              <a:t>— Eccolo, </a:t>
            </a:r>
            <a:r>
              <a:rPr sz="1000" b="0" i="1" err="1">
                <a:solidFill>
                  <a:srgbClr val="2D6A4F"/>
                </a:solidFill>
                <a:latin typeface="Calibri"/>
              </a:rPr>
              <a:t>dall’interno</a:t>
            </a:r>
            <a:r>
              <a:rPr sz="1000" b="0" i="1">
                <a:solidFill>
                  <a:srgbClr val="2D6A4F"/>
                </a:solidFill>
                <a:latin typeface="Calibri"/>
              </a:rPr>
              <a:t>.</a:t>
            </a:r>
            <a:endParaRPr sz="1000" b="0" i="1">
              <a:solidFill>
                <a:srgbClr val="2D6A4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0000" y="3157379"/>
            <a:ext cx="11108952" cy="1440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0000" y="3114179"/>
            <a:ext cx="3606984" cy="1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1">
                <a:solidFill>
                  <a:srgbClr val="1A3A5C"/>
                </a:solidFill>
                <a:latin typeface="Calibri"/>
              </a:rPr>
              <a:t>APP CLIENTE — Wallet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0984" y="3114179"/>
            <a:ext cx="3606984" cy="1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1">
                <a:solidFill>
                  <a:srgbClr val="1A3A5C"/>
                </a:solidFill>
                <a:latin typeface="Calibri"/>
              </a:rPr>
              <a:t>APP CLIENTE — Prenotazione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1968" y="3114179"/>
            <a:ext cx="3606984" cy="1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1">
                <a:solidFill>
                  <a:srgbClr val="1A3A5C"/>
                </a:solidFill>
                <a:latin typeface="Calibri"/>
              </a:rPr>
              <a:t>APP CLIENTE — Conferma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0000" y="3229379"/>
            <a:ext cx="3606984" cy="3304621"/>
          </a:xfrm>
          <a:prstGeom prst="rect">
            <a:avLst/>
          </a:prstGeom>
          <a:solidFill>
            <a:srgbClr val="FFFFFF"/>
          </a:solidFill>
          <a:ln w="144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40000" y="3229379"/>
            <a:ext cx="3606984" cy="270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9200" y="3265379"/>
            <a:ext cx="3448584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1">
                <a:solidFill>
                  <a:srgbClr val="FFFFFF"/>
                </a:solidFill>
                <a:latin typeface="Calibri"/>
              </a:rPr>
              <a:t>Salute Quotidiana  |  WALLET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200" y="3592979"/>
            <a:ext cx="3448584" cy="2396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1A3A5C"/>
                </a:solidFill>
                <a:latin typeface="Calibri"/>
              </a:rPr>
              <a:t>Ciao, Marco  —  Livello GOLD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9200" y="4072349"/>
            <a:ext cx="3448584" cy="2396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333333"/>
                </a:solidFill>
                <a:latin typeface="Calibri"/>
              </a:rPr>
              <a:t>Il tuo saldo Credito SQ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9200" y="4312034"/>
            <a:ext cx="3448584" cy="2396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D6A4F"/>
                </a:solidFill>
                <a:latin typeface="Calibri"/>
              </a:rPr>
              <a:t>15,00 euro SQ  (su 20 max)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9200" y="4551719"/>
            <a:ext cx="3448584" cy="2396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2E6DA8"/>
                </a:solidFill>
                <a:latin typeface="Calibri"/>
              </a:rPr>
              <a:t>Prossima prestazione a soli 5 euro SQ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3760" y="5016689"/>
            <a:ext cx="3559464" cy="225285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19200" y="5031089"/>
            <a:ext cx="3448584" cy="2396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CARICA SCONTRINO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9200" y="5510459"/>
            <a:ext cx="3448584" cy="2396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1A3A5C"/>
                </a:solidFill>
                <a:latin typeface="Calibri"/>
              </a:rPr>
              <a:t>ULTIMI ACQUISTI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3760" y="5735744"/>
            <a:ext cx="3559464" cy="225285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19200" y="5750144"/>
            <a:ext cx="3448584" cy="2396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333333"/>
                </a:solidFill>
                <a:latin typeface="Calibri"/>
              </a:rPr>
              <a:t>Farmacia Rossi        +2,40 €SQ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9200" y="5989829"/>
            <a:ext cx="3448584" cy="2396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333333"/>
                </a:solidFill>
                <a:latin typeface="Calibri"/>
              </a:rPr>
              <a:t>Bar Centrale          +0,80 €SQ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3760" y="6215114"/>
            <a:ext cx="3559464" cy="225285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19200" y="6229514"/>
            <a:ext cx="3448584" cy="2396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333333"/>
                </a:solidFill>
                <a:latin typeface="Calibri"/>
              </a:rPr>
              <a:t>Supermercato          +1,50 €SQ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90984" y="3229379"/>
            <a:ext cx="3606984" cy="3304621"/>
          </a:xfrm>
          <a:prstGeom prst="rect">
            <a:avLst/>
          </a:prstGeom>
          <a:solidFill>
            <a:srgbClr val="FFFFFF"/>
          </a:solidFill>
          <a:ln w="144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290984" y="3229379"/>
            <a:ext cx="3606984" cy="270000"/>
          </a:xfrm>
          <a:prstGeom prst="rect">
            <a:avLst/>
          </a:prstGeom>
          <a:solidFill>
            <a:srgbClr val="2E6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370184" y="3265379"/>
            <a:ext cx="3448584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1">
                <a:solidFill>
                  <a:srgbClr val="FFFFFF"/>
                </a:solidFill>
                <a:latin typeface="Calibri"/>
              </a:rPr>
              <a:t>Prenota Prestazione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70184" y="3592979"/>
            <a:ext cx="3448584" cy="2396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1A3A5C"/>
                </a:solidFill>
                <a:latin typeface="Calibri"/>
              </a:rPr>
              <a:t>Saldo disponibile: 15,00 €SQ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14744" y="4057949"/>
            <a:ext cx="3559464" cy="225285"/>
          </a:xfrm>
          <a:prstGeom prst="rect">
            <a:avLst/>
          </a:prstGeom>
          <a:solidFill>
            <a:srgbClr val="D6EE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370184" y="4072349"/>
            <a:ext cx="3448584" cy="2396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2D6A4F"/>
                </a:solidFill>
                <a:latin typeface="Calibri"/>
              </a:rPr>
              <a:t>✓  Iniezione I.M.              8 €SQ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70184" y="4312034"/>
            <a:ext cx="3448584" cy="2396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2D6A4F"/>
                </a:solidFill>
                <a:latin typeface="Calibri"/>
              </a:rPr>
              <a:t>✓  Prelievo periferico        10 €SQ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14744" y="4537319"/>
            <a:ext cx="3559464" cy="225285"/>
          </a:xfrm>
          <a:prstGeom prst="rect">
            <a:avLst/>
          </a:prstGeom>
          <a:solidFill>
            <a:srgbClr val="D6EE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370184" y="4551719"/>
            <a:ext cx="3448584" cy="2396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2D6A4F"/>
                </a:solidFill>
                <a:latin typeface="Calibri"/>
              </a:rPr>
              <a:t>✓  Medicazione semplice       13 €SQ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70184" y="4791404"/>
            <a:ext cx="3448584" cy="2396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333333"/>
                </a:solidFill>
                <a:latin typeface="Calibri"/>
              </a:rPr>
              <a:t>○  Controllo parametri        16 €SQ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14744" y="5016689"/>
            <a:ext cx="3559464" cy="225285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370184" y="5031089"/>
            <a:ext cx="3448584" cy="2396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333333"/>
                </a:solidFill>
                <a:latin typeface="Calibri"/>
              </a:rPr>
              <a:t>○  Prelievo arterioso         20 €SQ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70184" y="5270774"/>
            <a:ext cx="3448584" cy="2396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333333"/>
                </a:solidFill>
                <a:latin typeface="Calibri"/>
              </a:rPr>
              <a:t>○  Gest. tracheostomia        30 €SQ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70184" y="5750144"/>
            <a:ext cx="3448584" cy="2396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50" b="0" i="1">
                <a:solidFill>
                  <a:srgbClr val="2D6A4F"/>
                </a:solidFill>
                <a:latin typeface="Calibri"/>
              </a:rPr>
              <a:t>✓ disponibile con il tuo saldo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14744" y="6215114"/>
            <a:ext cx="3559464" cy="225285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370184" y="6229514"/>
            <a:ext cx="3448584" cy="2396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PRENOTA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41968" y="3229379"/>
            <a:ext cx="3606984" cy="3304621"/>
          </a:xfrm>
          <a:prstGeom prst="rect">
            <a:avLst/>
          </a:prstGeom>
          <a:solidFill>
            <a:srgbClr val="FFFFFF"/>
          </a:solidFill>
          <a:ln w="144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8041968" y="3229379"/>
            <a:ext cx="3606984" cy="270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121168" y="3265379"/>
            <a:ext cx="3448584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1">
                <a:solidFill>
                  <a:srgbClr val="FFFFFF"/>
                </a:solidFill>
                <a:latin typeface="Calibri"/>
              </a:rPr>
              <a:t>Conferma Prenotazione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21168" y="3592979"/>
            <a:ext cx="3448584" cy="335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D6A4F"/>
                </a:solidFill>
                <a:latin typeface="Calibri"/>
              </a:rPr>
              <a:t>✓  Prenotazione Confermata!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21168" y="4168223"/>
            <a:ext cx="3448584" cy="2396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1A3A5C"/>
                </a:solidFill>
                <a:latin typeface="Calibri"/>
              </a:rPr>
              <a:t>Prelievo periferico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21168" y="4407908"/>
            <a:ext cx="3448584" cy="2396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333333"/>
                </a:solidFill>
                <a:latin typeface="Calibri"/>
              </a:rPr>
              <a:t>Infermiere: Mario R.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065728" y="4872878"/>
            <a:ext cx="3559464" cy="225285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121168" y="4887278"/>
            <a:ext cx="3448584" cy="2396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333333"/>
                </a:solidFill>
                <a:latin typeface="Calibri"/>
              </a:rPr>
              <a:t>Data:    Mer 16/03  —  ore 09:30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121168" y="5126963"/>
            <a:ext cx="3448584" cy="2396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333333"/>
                </a:solidFill>
                <a:latin typeface="Calibri"/>
              </a:rPr>
              <a:t>Luogo:   a domicilio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21168" y="5606333"/>
            <a:ext cx="3448584" cy="2396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1A3A5C"/>
                </a:solidFill>
                <a:latin typeface="Calibri"/>
              </a:rPr>
              <a:t>Credito usato:   10,00 €SQ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065728" y="5831618"/>
            <a:ext cx="3559464" cy="225285"/>
          </a:xfrm>
          <a:prstGeom prst="rect">
            <a:avLst/>
          </a:prstGeom>
          <a:solidFill>
            <a:srgbClr val="D6EE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121168" y="5846018"/>
            <a:ext cx="3448584" cy="2396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2D6A4F"/>
                </a:solidFill>
                <a:latin typeface="Calibri"/>
              </a:rPr>
              <a:t>Saldo residuo:    5,00 €SQ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065728" y="6310988"/>
            <a:ext cx="3559464" cy="225285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121168" y="6325388"/>
            <a:ext cx="3448584" cy="2396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1A3A5C"/>
                </a:solidFill>
                <a:latin typeface="Calibri"/>
              </a:rPr>
              <a:t>+ AGGIUNGI AL CALENDARIO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20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4000" cy="6858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2000" y="54000"/>
            <a:ext cx="11468952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Il problema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540000"/>
            <a:ext cx="11468952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E0E8F0"/>
                </a:solidFill>
                <a:latin typeface="Calibri"/>
              </a:rPr>
              <a:t>Cosa manca oggi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42000"/>
            <a:ext cx="12188952" cy="216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2000" y="6656400"/>
            <a:ext cx="11468952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FFFFFF"/>
                </a:solidFill>
                <a:latin typeface="Calibri"/>
              </a:rPr>
              <a:t>Credito Salute SQ  ·  Salute Quotidiana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1152000"/>
            <a:ext cx="11108952" cy="527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</a:pPr>
            <a:r>
              <a:rPr sz="1600" b="1">
                <a:solidFill>
                  <a:srgbClr val="1A3A5C"/>
                </a:solidFill>
                <a:latin typeface="Calibri"/>
              </a:rPr>
              <a:t>Accedere a servizi sanitari semplici è più difficile di quanto dovrebbe essere.</a:t>
            </a:r>
          </a:p>
          <a:p>
            <a:pPr algn="l">
              <a:spcBef>
                <a:spcPts val="0"/>
              </a:spcBef>
            </a:pPr>
            <a:r>
              <a:rPr sz="800" b="0">
                <a:solidFill>
                  <a:srgbClr val="333333"/>
                </a:solidFill>
                <a:latin typeface="Calibri"/>
              </a:rPr>
              <a:t> 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333333"/>
                </a:solidFill>
                <a:latin typeface="Calibri"/>
              </a:rPr>
              <a:t>Prelievi, medicazioni, iniezioni, controlli di base sono prestazioni semplici.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333333"/>
                </a:solidFill>
                <a:latin typeface="Calibri"/>
              </a:rPr>
              <a:t>Eppure organizzarle richiede tempo, spostamenti e spesso costi che molte famiglie rimandano.</a:t>
            </a:r>
          </a:p>
          <a:p>
            <a:pPr algn="l">
              <a:spcBef>
                <a:spcPts val="0"/>
              </a:spcBef>
            </a:pPr>
            <a:r>
              <a:rPr sz="800" b="0">
                <a:solidFill>
                  <a:srgbClr val="333333"/>
                </a:solidFill>
                <a:latin typeface="Calibri"/>
              </a:rPr>
              <a:t> 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333333"/>
                </a:solidFill>
                <a:latin typeface="Calibri"/>
              </a:rPr>
              <a:t>Nel frattempo, ogni esercizio commerciale spende ogni anno in gadget, volantini e omaggi</a:t>
            </a:r>
          </a:p>
          <a:p>
            <a:pPr algn="l">
              <a:spcBef>
                <a:spcPts val="0"/>
              </a:spcBef>
            </a:pPr>
            <a:r>
              <a:rPr sz="1300" b="0">
                <a:solidFill>
                  <a:srgbClr val="333333"/>
                </a:solidFill>
                <a:latin typeface="Calibri"/>
              </a:rPr>
              <a:t>che i clienti dimenticano nel giro di qualche giorno.</a:t>
            </a:r>
          </a:p>
          <a:p>
            <a:pPr algn="l">
              <a:spcBef>
                <a:spcPts val="0"/>
              </a:spcBef>
            </a:pPr>
            <a:r>
              <a:rPr sz="800" b="0">
                <a:solidFill>
                  <a:srgbClr val="333333"/>
                </a:solidFill>
                <a:latin typeface="Calibri"/>
              </a:rPr>
              <a:t> </a:t>
            </a:r>
          </a:p>
          <a:p>
            <a:pPr algn="l">
              <a:spcBef>
                <a:spcPts val="400"/>
              </a:spcBef>
            </a:pPr>
            <a:r>
              <a:rPr sz="1400" b="1">
                <a:solidFill>
                  <a:srgbClr val="2D6A4F"/>
                </a:solidFill>
                <a:latin typeface="Calibri"/>
              </a:rPr>
              <a:t>C'è un modo per collegare queste due realtà.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20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4000" cy="6858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2000" y="54000"/>
            <a:ext cx="11468952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La soluzione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540000"/>
            <a:ext cx="11468952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E0E8F0"/>
                </a:solidFill>
                <a:latin typeface="Calibri"/>
              </a:rPr>
              <a:t>Il budget promozionale diventa qualcosa che conta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42000"/>
            <a:ext cx="12188952" cy="216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2000" y="6656400"/>
            <a:ext cx="11468952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FFFFFF"/>
                </a:solidFill>
                <a:latin typeface="Calibri"/>
              </a:rPr>
              <a:t>Credito Salute SQ  ·  Salute Quotidiana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1152000"/>
            <a:ext cx="11108952" cy="527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</a:pPr>
            <a:r>
              <a:rPr sz="1300" b="0">
                <a:solidFill>
                  <a:srgbClr val="333333"/>
                </a:solidFill>
                <a:latin typeface="Calibri"/>
              </a:rPr>
              <a:t>L'esercizio commerciale destina una quota del proprio budget promozionale a un fondo gestito da Salute Quotidiana.</a:t>
            </a:r>
          </a:p>
          <a:p>
            <a:pPr algn="l">
              <a:spcBef>
                <a:spcPts val="0"/>
              </a:spcBef>
            </a:pPr>
            <a:r>
              <a:rPr sz="800" b="0">
                <a:solidFill>
                  <a:srgbClr val="333333"/>
                </a:solidFill>
                <a:latin typeface="Calibri"/>
              </a:rPr>
              <a:t> </a:t>
            </a:r>
          </a:p>
          <a:p>
            <a:pPr algn="l">
              <a:spcBef>
                <a:spcPts val="0"/>
              </a:spcBef>
            </a:pPr>
            <a:r>
              <a:rPr sz="1300" b="0">
                <a:solidFill>
                  <a:srgbClr val="333333"/>
                </a:solidFill>
                <a:latin typeface="Calibri"/>
              </a:rPr>
              <a:t>I clienti accumulano credito con gli acquisti abituali.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333333"/>
                </a:solidFill>
                <a:latin typeface="Calibri"/>
              </a:rPr>
              <a:t>Il credito è spendibile su prestazioni infermieristiche a domicilio — per sé o per un familiare convivente.</a:t>
            </a:r>
          </a:p>
          <a:p>
            <a:pPr algn="l">
              <a:spcBef>
                <a:spcPts val="0"/>
              </a:spcBef>
            </a:pPr>
            <a:r>
              <a:rPr sz="800" b="0">
                <a:solidFill>
                  <a:srgbClr val="333333"/>
                </a:solidFill>
                <a:latin typeface="Calibri"/>
              </a:rPr>
              <a:t> </a:t>
            </a:r>
          </a:p>
          <a:p>
            <a:pPr algn="l">
              <a:spcBef>
                <a:spcPts val="400"/>
              </a:spcBef>
            </a:pPr>
            <a:r>
              <a:rPr sz="1400" b="1">
                <a:solidFill>
                  <a:srgbClr val="1A3A5C"/>
                </a:solidFill>
                <a:latin typeface="Calibri"/>
              </a:rPr>
              <a:t>Nessun gadget. Nessun volantino.</a:t>
            </a:r>
          </a:p>
          <a:p>
            <a:pPr algn="l">
              <a:spcBef>
                <a:spcPts val="0"/>
              </a:spcBef>
            </a:pPr>
            <a:r>
              <a:rPr sz="1400" b="1">
                <a:solidFill>
                  <a:srgbClr val="1A3A5C"/>
                </a:solidFill>
                <a:latin typeface="Calibri"/>
              </a:rPr>
              <a:t>Un beneficio concreto, spendibile, vicino alla vita reale delle persone.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20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4000" cy="6858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2000" y="54000"/>
            <a:ext cx="11468952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Come funziona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540000"/>
            <a:ext cx="11468952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E0E8F0"/>
                </a:solidFill>
                <a:latin typeface="Calibri"/>
              </a:rPr>
              <a:t>Tre ruoli. Un meccanismo semplice.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42000"/>
            <a:ext cx="12188952" cy="216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2000" y="6656400"/>
            <a:ext cx="11468952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FFFFFF"/>
                </a:solidFill>
                <a:latin typeface="Calibri"/>
              </a:rPr>
              <a:t>Credito Salute SQ  ·  Salute Quotidiana</a:t>
            </a:r>
          </a:p>
        </p:txBody>
      </p:sp>
      <p:sp>
        <p:nvSpPr>
          <p:cNvPr id="8" name="Rectangle 7"/>
          <p:cNvSpPr/>
          <p:nvPr/>
        </p:nvSpPr>
        <p:spPr>
          <a:xfrm>
            <a:off x="648000" y="1152000"/>
            <a:ext cx="3558984" cy="360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4000" y="1188000"/>
            <a:ext cx="3486984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Esercizio commerciale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8000" y="1548000"/>
            <a:ext cx="3558984" cy="4950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20000" y="1620000"/>
            <a:ext cx="3414984" cy="48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Calibri"/>
              </a:rPr>
              <a:t>• Stanzia il fondo promozionale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Calibri"/>
              </a:rPr>
              <a:t>• Espone il materiale informativo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Calibri"/>
              </a:rPr>
              <a:t>• Invita i clienti a partecipare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Calibri"/>
              </a:rPr>
              <a:t>• Non gestisce nulla di sanitario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0984" y="1152000"/>
            <a:ext cx="3558984" cy="360000"/>
          </a:xfrm>
          <a:prstGeom prst="rect">
            <a:avLst/>
          </a:prstGeom>
          <a:solidFill>
            <a:srgbClr val="2E6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86984" y="1188000"/>
            <a:ext cx="3486984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Cliente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50984" y="1548000"/>
            <a:ext cx="3558984" cy="4950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22984" y="1620000"/>
            <a:ext cx="3414984" cy="48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Calibri"/>
              </a:rPr>
              <a:t>• Si iscrive all'app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Calibri"/>
              </a:rPr>
              <a:t>• Carica gli scontrini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Calibri"/>
              </a:rPr>
              <a:t>• Accumula credito verificato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Calibri"/>
              </a:rPr>
              <a:t>• Usa il credito per le prestazioni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53968" y="1152000"/>
            <a:ext cx="3558984" cy="360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89968" y="1188000"/>
            <a:ext cx="3486984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Salute Quotidiana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3968" y="1548000"/>
            <a:ext cx="3558984" cy="4950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25968" y="1620000"/>
            <a:ext cx="3414984" cy="48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Calibri"/>
              </a:rPr>
              <a:t>• Gestisce iscrizioni e verifiche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Calibri"/>
              </a:rPr>
              <a:t>• Gestisce il fondo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Calibri"/>
              </a:rPr>
              <a:t>• Organizza le prestazioni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Calibri"/>
              </a:rPr>
              <a:t>• Produce il report finale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20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4000" cy="6858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2000" y="54000"/>
            <a:ext cx="11468952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La formula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540000"/>
            <a:ext cx="11468952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E0E8F0"/>
                </a:solidFill>
                <a:latin typeface="Calibri"/>
              </a:rPr>
              <a:t>I numeri del programma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42000"/>
            <a:ext cx="12188952" cy="216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2000" y="6656400"/>
            <a:ext cx="11468952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FFFFFF"/>
                </a:solidFill>
                <a:latin typeface="Calibri"/>
              </a:rPr>
              <a:t>Credito Salute SQ  ·  Salute Quotidiana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1152000"/>
            <a:ext cx="6109923" cy="527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</a:pPr>
            <a:r>
              <a:rPr sz="3600" b="1">
                <a:solidFill>
                  <a:srgbClr val="1A3A5C"/>
                </a:solidFill>
                <a:latin typeface="Calibri"/>
              </a:rPr>
              <a:t>15%</a:t>
            </a:r>
          </a:p>
          <a:p>
            <a:pPr algn="l">
              <a:spcBef>
                <a:spcPts val="0"/>
              </a:spcBef>
            </a:pPr>
            <a:r>
              <a:rPr sz="1300" b="0">
                <a:solidFill>
                  <a:srgbClr val="333333"/>
                </a:solidFill>
                <a:latin typeface="Calibri"/>
              </a:rPr>
              <a:t>della spesa valida del cliente → Credito Salute SQ</a:t>
            </a:r>
          </a:p>
          <a:p>
            <a:pPr algn="l">
              <a:spcBef>
                <a:spcPts val="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</a:t>
            </a:r>
          </a:p>
          <a:p>
            <a:pPr algn="l">
              <a:spcBef>
                <a:spcPts val="400"/>
              </a:spcBef>
            </a:pPr>
            <a:r>
              <a:rPr sz="2800" b="1">
                <a:solidFill>
                  <a:srgbClr val="2D6A4F"/>
                </a:solidFill>
                <a:latin typeface="Calibri"/>
              </a:rPr>
              <a:t>1 euro SQ</a:t>
            </a:r>
          </a:p>
          <a:p>
            <a:pPr algn="l">
              <a:spcBef>
                <a:spcPts val="0"/>
              </a:spcBef>
            </a:pPr>
            <a:r>
              <a:rPr sz="1300" b="0">
                <a:solidFill>
                  <a:srgbClr val="333333"/>
                </a:solidFill>
                <a:latin typeface="Calibri"/>
              </a:rPr>
              <a:t>= 1 euro di sconto sulle prestazioni</a:t>
            </a:r>
          </a:p>
          <a:p>
            <a:pPr algn="l">
              <a:spcBef>
                <a:spcPts val="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</a:t>
            </a:r>
          </a:p>
          <a:p>
            <a:pPr algn="l">
              <a:spcBef>
                <a:spcPts val="600"/>
              </a:spcBef>
            </a:pPr>
            <a:r>
              <a:rPr sz="1200" b="1">
                <a:solidFill>
                  <a:srgbClr val="1A3A5C"/>
                </a:solidFill>
                <a:latin typeface="Calibri"/>
              </a:rPr>
              <a:t>Esempio pratico: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333333"/>
                </a:solidFill>
                <a:latin typeface="Calibri"/>
              </a:rPr>
              <a:t>Un cliente che spende 100 euro al mese accumula 15 euro di Credito SQ.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333333"/>
                </a:solidFill>
                <a:latin typeface="Calibri"/>
              </a:rPr>
              <a:t>In due mesi: prelievo + medicazione a costo zero.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5371" y="1152000"/>
            <a:ext cx="4221401" cy="527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Fondo tipico</a:t>
            </a:r>
          </a:p>
          <a:p>
            <a:r>
              <a:rPr sz="1600" b="1">
                <a:solidFill>
                  <a:srgbClr val="1A3A5C"/>
                </a:solidFill>
                <a:latin typeface="Calibri"/>
              </a:rPr>
              <a:t>1.000 euro</a:t>
            </a:r>
          </a:p>
          <a:p>
            <a:pPr>
              <a:spcBef>
                <a:spcPts val="10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Clienti per ciclo</a:t>
            </a:r>
          </a:p>
          <a:p>
            <a:r>
              <a:rPr sz="1600" b="1">
                <a:solidFill>
                  <a:srgbClr val="1A3A5C"/>
                </a:solidFill>
                <a:latin typeface="Calibri"/>
              </a:rPr>
              <a:t>max 20</a:t>
            </a:r>
          </a:p>
          <a:p>
            <a:pPr>
              <a:spcBef>
                <a:spcPts val="10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Durata ciclo</a:t>
            </a:r>
          </a:p>
          <a:p>
            <a:r>
              <a:rPr sz="1600" b="1">
                <a:solidFill>
                  <a:srgbClr val="1A3A5C"/>
                </a:solidFill>
                <a:latin typeface="Calibri"/>
              </a:rPr>
              <a:t>30 giorni</a:t>
            </a:r>
          </a:p>
          <a:p>
            <a:pPr>
              <a:spcBef>
                <a:spcPts val="10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Tetto per cliente</a:t>
            </a:r>
          </a:p>
          <a:p>
            <a:r>
              <a:rPr sz="1600" b="1">
                <a:solidFill>
                  <a:srgbClr val="1A3A5C"/>
                </a:solidFill>
                <a:latin typeface="Calibri"/>
              </a:rPr>
              <a:t>50 euro SQ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20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4000" cy="6858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2000" y="54000"/>
            <a:ext cx="11468952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Le prestazioni disponibili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540000"/>
            <a:ext cx="11468952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E0E8F0"/>
                </a:solidFill>
                <a:latin typeface="Calibri"/>
              </a:rPr>
              <a:t>Tutto quello che si può fare con il credito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42000"/>
            <a:ext cx="12188952" cy="216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2000" y="6656400"/>
            <a:ext cx="11468952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FFFFFF"/>
                </a:solidFill>
                <a:latin typeface="Calibri"/>
              </a:rPr>
              <a:t>Credito Salute SQ  ·  Salute Quotidiana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0000" y="1152000"/>
          <a:ext cx="11108952" cy="22750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544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544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1999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Prestazione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Costo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Iniezione intramuscolare I.M. (su prescrizione)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8 €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Prelievo ematico periferico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10 €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Medicazione semplice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13 €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Controllo parametri di base + educazione sanitaria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16 €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Prelievo arterioso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20 €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Gestione medicazione tracheostomia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30 €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Catetere vescicale / cateterismo estemporaneo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35 €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Posizionamento e gestione sondino naso gastrico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40 €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0000" y="6282000"/>
            <a:ext cx="11108952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</a:pPr>
            <a:r>
              <a:rPr sz="1000" b="0">
                <a:solidFill>
                  <a:srgbClr val="2D6A4F"/>
                </a:solidFill>
                <a:latin typeface="Calibri"/>
              </a:rPr>
              <a:t>Prestazioni programmate · Non urgenti · Erogate a domicilio da infermiere abilitato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20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4000" cy="6858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2000" y="54000"/>
            <a:ext cx="11468952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Per l'esercizio commerciale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540000"/>
            <a:ext cx="11468952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E0E8F0"/>
                </a:solidFill>
                <a:latin typeface="Calibri"/>
              </a:rPr>
              <a:t>Cosa cambia per chi aderisce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42000"/>
            <a:ext cx="12188952" cy="216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2000" y="6656400"/>
            <a:ext cx="11468952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FFFFFF"/>
                </a:solidFill>
                <a:latin typeface="Calibri"/>
              </a:rPr>
              <a:t>Credito Salute SQ  ·  Salute Quotidiana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1152000"/>
            <a:ext cx="11108952" cy="527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</a:pPr>
            <a:r>
              <a:rPr sz="1400" b="1">
                <a:solidFill>
                  <a:srgbClr val="1A3A5C"/>
                </a:solidFill>
                <a:latin typeface="Calibri"/>
              </a:rPr>
              <a:t>Il budget promozionale già esistente produce un effetto che dura.</a:t>
            </a:r>
          </a:p>
          <a:p>
            <a:pPr algn="l">
              <a:spcBef>
                <a:spcPts val="0"/>
              </a:spcBef>
            </a:pPr>
            <a:r>
              <a:rPr sz="800" b="0">
                <a:solidFill>
                  <a:srgbClr val="333333"/>
                </a:solidFill>
                <a:latin typeface="Calibri"/>
              </a:rPr>
              <a:t> 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333333"/>
                </a:solidFill>
                <a:latin typeface="Calibri"/>
              </a:rPr>
              <a:t>I clienti ricordano il servizio perché riguarda qualcosa che conta — non un gadget.</a:t>
            </a:r>
          </a:p>
          <a:p>
            <a:pPr algn="l">
              <a:spcBef>
                <a:spcPts val="0"/>
              </a:spcBef>
            </a:pPr>
            <a:r>
              <a:rPr sz="800" b="0">
                <a:solidFill>
                  <a:srgbClr val="333333"/>
                </a:solidFill>
                <a:latin typeface="Calibri"/>
              </a:rPr>
              <a:t> </a:t>
            </a:r>
          </a:p>
          <a:p>
            <a:pPr algn="l">
              <a:spcBef>
                <a:spcPts val="600"/>
              </a:spcBef>
            </a:pPr>
            <a:r>
              <a:rPr sz="1200" b="1">
                <a:solidFill>
                  <a:srgbClr val="1A3A5C"/>
                </a:solidFill>
                <a:latin typeface="Calibri"/>
              </a:rPr>
              <a:t>L'impegno è minimo: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333333"/>
                </a:solidFill>
                <a:latin typeface="Calibri"/>
              </a:rPr>
              <a:t>→  Firmare il contratto di adesione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333333"/>
                </a:solidFill>
                <a:latin typeface="Calibri"/>
              </a:rPr>
              <a:t>→  Versare il fondo promozionale concordato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333333"/>
                </a:solidFill>
                <a:latin typeface="Calibri"/>
              </a:rPr>
              <a:t>→  Invitare i clienti con le proprie parole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333333"/>
                </a:solidFill>
                <a:latin typeface="Calibri"/>
              </a:rPr>
              <a:t>→  Ricevere il report aggregato a fine periodo</a:t>
            </a:r>
          </a:p>
          <a:p>
            <a:pPr algn="l">
              <a:spcBef>
                <a:spcPts val="0"/>
              </a:spcBef>
            </a:pPr>
            <a:r>
              <a:rPr sz="800" b="0">
                <a:solidFill>
                  <a:srgbClr val="333333"/>
                </a:solidFill>
                <a:latin typeface="Calibri"/>
              </a:rPr>
              <a:t> </a:t>
            </a:r>
          </a:p>
          <a:p>
            <a:pPr algn="l">
              <a:spcBef>
                <a:spcPts val="400"/>
              </a:spcBef>
            </a:pPr>
            <a:r>
              <a:rPr sz="1300" b="1">
                <a:solidFill>
                  <a:srgbClr val="2D6A4F"/>
                </a:solidFill>
                <a:latin typeface="Calibri"/>
              </a:rPr>
              <a:t>Tutto il resto lo gestisce Salute Quotidiana.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20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4000" cy="6858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2000" y="54000"/>
            <a:ext cx="11468952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Per il cliente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540000"/>
            <a:ext cx="11468952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E0E8F0"/>
                </a:solidFill>
                <a:latin typeface="Calibri"/>
              </a:rPr>
              <a:t>Cosa ottiene chi partecipa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42000"/>
            <a:ext cx="12188952" cy="216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2000" y="6656400"/>
            <a:ext cx="11468952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FFFFFF"/>
                </a:solidFill>
                <a:latin typeface="Calibri"/>
              </a:rPr>
              <a:t>Credito Salute SQ  ·  Salute Quotidiana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1152000"/>
            <a:ext cx="11108952" cy="527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</a:pPr>
            <a:r>
              <a:rPr sz="1400" b="1">
                <a:solidFill>
                  <a:srgbClr val="1A3A5C"/>
                </a:solidFill>
                <a:latin typeface="Calibri"/>
              </a:rPr>
              <a:t>Credito reale su servizi concreti, accumulato con acquisti già fatti.</a:t>
            </a:r>
          </a:p>
          <a:p>
            <a:pPr algn="l">
              <a:spcBef>
                <a:spcPts val="0"/>
              </a:spcBef>
            </a:pPr>
            <a:r>
              <a:rPr sz="800" b="0">
                <a:solidFill>
                  <a:srgbClr val="333333"/>
                </a:solidFill>
                <a:latin typeface="Calibri"/>
              </a:rPr>
              <a:t> 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333333"/>
                </a:solidFill>
                <a:latin typeface="Calibri"/>
              </a:rPr>
              <a:t>Nessun abbonamento. Nessun impegno. Nessuna spesa aggiuntiva.</a:t>
            </a:r>
          </a:p>
          <a:p>
            <a:pPr algn="l">
              <a:spcBef>
                <a:spcPts val="0"/>
              </a:spcBef>
            </a:pPr>
            <a:r>
              <a:rPr sz="800" b="0">
                <a:solidFill>
                  <a:srgbClr val="333333"/>
                </a:solidFill>
                <a:latin typeface="Calibri"/>
              </a:rPr>
              <a:t> 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333333"/>
                </a:solidFill>
                <a:latin typeface="Calibri"/>
              </a:rPr>
              <a:t>L'infermiere viene a domicilio, su appuntamento, nel giro di pochi giorni.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333333"/>
                </a:solidFill>
                <a:latin typeface="Calibri"/>
              </a:rPr>
              <a:t>Senza organizzare nulla di complicato.</a:t>
            </a:r>
          </a:p>
          <a:p>
            <a:pPr algn="l">
              <a:spcBef>
                <a:spcPts val="0"/>
              </a:spcBef>
            </a:pPr>
            <a:r>
              <a:rPr sz="800" b="0">
                <a:solidFill>
                  <a:srgbClr val="333333"/>
                </a:solidFill>
                <a:latin typeface="Calibri"/>
              </a:rPr>
              <a:t> 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333333"/>
                </a:solidFill>
                <a:latin typeface="Calibri"/>
              </a:rPr>
              <a:t>Il credito si può usare anche per un genitore, un nonno, un coniuge convivente.</a:t>
            </a:r>
          </a:p>
          <a:p>
            <a:pPr algn="l">
              <a:spcBef>
                <a:spcPts val="200"/>
              </a:spcBef>
            </a:pPr>
            <a:r>
              <a:rPr sz="1300" b="1">
                <a:solidFill>
                  <a:srgbClr val="2D6A4F"/>
                </a:solidFill>
                <a:latin typeface="Calibri"/>
              </a:rPr>
              <a:t>Non è solo un vantaggio personale: è qualcosa da mettere al servizio di chi ci sta vicino.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20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4000" cy="6858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2000" y="54000"/>
            <a:ext cx="11468952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Perché funziona su scala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540000"/>
            <a:ext cx="11468952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E0E8F0"/>
                </a:solidFill>
                <a:latin typeface="Calibri"/>
              </a:rPr>
              <a:t>Il modello è replicabile su qualsiasi esercizio locale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42000"/>
            <a:ext cx="12188952" cy="216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2000" y="6656400"/>
            <a:ext cx="11468952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FFFFFF"/>
                </a:solidFill>
                <a:latin typeface="Calibri"/>
              </a:rPr>
              <a:t>Credito Salute SQ  ·  Salute Quotidiana</a:t>
            </a:r>
          </a:p>
        </p:txBody>
      </p:sp>
      <p:sp>
        <p:nvSpPr>
          <p:cNvPr id="8" name="Rectangle 7"/>
          <p:cNvSpPr/>
          <p:nvPr/>
        </p:nvSpPr>
        <p:spPr>
          <a:xfrm>
            <a:off x="540000" y="1152000"/>
            <a:ext cx="2705238" cy="396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76000" y="1188000"/>
            <a:ext cx="2633238" cy="34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Bar / Caffetteria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17238" y="1152000"/>
            <a:ext cx="2705238" cy="396000"/>
          </a:xfrm>
          <a:prstGeom prst="rect">
            <a:avLst/>
          </a:prstGeom>
          <a:solidFill>
            <a:srgbClr val="2E6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53238" y="1188000"/>
            <a:ext cx="2633238" cy="34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Farmacia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4476" y="1152000"/>
            <a:ext cx="2705238" cy="396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30476" y="1188000"/>
            <a:ext cx="2633238" cy="34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Parafarmacia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71714" y="1152000"/>
            <a:ext cx="2705238" cy="396000"/>
          </a:xfrm>
          <a:prstGeom prst="rect">
            <a:avLst/>
          </a:prstGeom>
          <a:solidFill>
            <a:srgbClr val="2E6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907714" y="1188000"/>
            <a:ext cx="2633238" cy="34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Panificio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0000" y="1656000"/>
            <a:ext cx="2705238" cy="396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76000" y="1692000"/>
            <a:ext cx="2633238" cy="34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Alimentari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17238" y="1656000"/>
            <a:ext cx="2705238" cy="396000"/>
          </a:xfrm>
          <a:prstGeom prst="rect">
            <a:avLst/>
          </a:prstGeom>
          <a:solidFill>
            <a:srgbClr val="2E6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353238" y="1692000"/>
            <a:ext cx="2633238" cy="34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Palestra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94476" y="1656000"/>
            <a:ext cx="2705238" cy="396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130476" y="1692000"/>
            <a:ext cx="2633238" cy="34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Tabacchi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871714" y="1656000"/>
            <a:ext cx="2705238" cy="396000"/>
          </a:xfrm>
          <a:prstGeom prst="rect">
            <a:avLst/>
          </a:prstGeom>
          <a:solidFill>
            <a:srgbClr val="2E6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907714" y="1692000"/>
            <a:ext cx="2633238" cy="34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Centro estetico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0000" y="2304000"/>
            <a:ext cx="11108952" cy="412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</a:pPr>
            <a:r>
              <a:rPr sz="1300" b="1">
                <a:solidFill>
                  <a:srgbClr val="2D6A4F"/>
                </a:solidFill>
                <a:latin typeface="Calibri"/>
              </a:rPr>
              <a:t>Stesso meccanismo. Contesto diverso. Qualità costante.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333333"/>
                </a:solidFill>
                <a:latin typeface="Calibri"/>
              </a:rPr>
              <a:t>Ogni esercizio porta il proprio fondo e i propri clienti. Salute Quotidiana gestisce tutto.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20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4000" cy="6858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2000" y="54000"/>
            <a:ext cx="11468952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Il 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540000"/>
            <a:ext cx="11468952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E0E8F0"/>
                </a:solidFill>
                <a:latin typeface="Calibri"/>
              </a:rPr>
              <a:t>Dati reali da un test reale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42000"/>
            <a:ext cx="12188952" cy="216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2000" y="6656400"/>
            <a:ext cx="11468952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FFFFFF"/>
                </a:solidFill>
                <a:latin typeface="Calibri"/>
              </a:rPr>
              <a:t>Credito Salute SQ  ·  Salute Quotidiana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1152000"/>
            <a:ext cx="11108952" cy="527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</a:pPr>
            <a:r>
              <a:rPr sz="1400" b="1">
                <a:solidFill>
                  <a:srgbClr val="1A3A5C"/>
                </a:solidFill>
                <a:latin typeface="Calibri"/>
              </a:rPr>
              <a:t>Il primo ciclo del programma è un pilot a scala ridotta: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2E6DA8"/>
                </a:solidFill>
                <a:latin typeface="Calibri"/>
              </a:rPr>
              <a:t>un esercizio · 20 clienti · 30 giorni · fondo definito</a:t>
            </a:r>
          </a:p>
          <a:p>
            <a:pPr algn="l">
              <a:spcBef>
                <a:spcPts val="0"/>
              </a:spcBef>
            </a:pPr>
            <a:r>
              <a:rPr sz="800" b="0">
                <a:solidFill>
                  <a:srgbClr val="333333"/>
                </a:solidFill>
                <a:latin typeface="Calibri"/>
              </a:rPr>
              <a:t> </a:t>
            </a:r>
          </a:p>
          <a:p>
            <a:pPr algn="l">
              <a:spcBef>
                <a:spcPts val="600"/>
              </a:spcBef>
            </a:pPr>
            <a:r>
              <a:rPr sz="1200" b="1">
                <a:solidFill>
                  <a:srgbClr val="1A3A5C"/>
                </a:solidFill>
                <a:latin typeface="Calibri"/>
              </a:rPr>
              <a:t>Il pilot produce dati concreti: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333333"/>
                </a:solidFill>
                <a:latin typeface="Calibri"/>
              </a:rPr>
              <a:t>quanti si iscrivono, quanto credito accumulano, quanto ne usano, quali prestazioni scelgono.</a:t>
            </a:r>
          </a:p>
          <a:p>
            <a:pPr algn="l">
              <a:spcBef>
                <a:spcPts val="0"/>
              </a:spcBef>
            </a:pPr>
            <a:r>
              <a:rPr sz="800" b="0">
                <a:solidFill>
                  <a:srgbClr val="333333"/>
                </a:solidFill>
                <a:latin typeface="Calibri"/>
              </a:rPr>
              <a:t> 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333333"/>
                </a:solidFill>
                <a:latin typeface="Calibri"/>
              </a:rPr>
              <a:t>Questi dati sono la base per valutare l'espansione del modello.</a:t>
            </a:r>
          </a:p>
          <a:p>
            <a:pPr algn="l">
              <a:spcBef>
                <a:spcPts val="0"/>
              </a:spcBef>
            </a:pPr>
            <a:r>
              <a:rPr sz="800" b="0">
                <a:solidFill>
                  <a:srgbClr val="333333"/>
                </a:solidFill>
                <a:latin typeface="Calibri"/>
              </a:rPr>
              <a:t> </a:t>
            </a:r>
          </a:p>
          <a:p>
            <a:pPr algn="l">
              <a:spcBef>
                <a:spcPts val="400"/>
              </a:spcBef>
            </a:pPr>
            <a:r>
              <a:rPr sz="1400" b="1">
                <a:solidFill>
                  <a:srgbClr val="2D6A4F"/>
                </a:solidFill>
                <a:latin typeface="Calibri"/>
              </a:rPr>
              <a:t>Il rischio è contenuto e definito.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333333"/>
                </a:solidFill>
                <a:latin typeface="Calibri"/>
              </a:rPr>
              <a:t>Il fondo stanziato è il massimo esponibile. Nessun costo variabile aperto.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20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4000" cy="6858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2000" y="54000"/>
            <a:ext cx="11468952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Prossimi passi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540000"/>
            <a:ext cx="11468952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E0E8F0"/>
                </a:solidFill>
                <a:latin typeface="Calibri"/>
              </a:rPr>
              <a:t>Come aderire o collaborare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42000"/>
            <a:ext cx="12188952" cy="216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2000" y="6656400"/>
            <a:ext cx="11468952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FFFFFF"/>
                </a:solidFill>
                <a:latin typeface="Calibri"/>
              </a:rPr>
              <a:t>Credito Salute SQ  ·  Salute Quotidiana</a:t>
            </a:r>
          </a:p>
        </p:txBody>
      </p:sp>
      <p:sp>
        <p:nvSpPr>
          <p:cNvPr id="8" name="Rectangle 7"/>
          <p:cNvSpPr/>
          <p:nvPr/>
        </p:nvSpPr>
        <p:spPr>
          <a:xfrm>
            <a:off x="540000" y="1152000"/>
            <a:ext cx="5446476" cy="324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2000" y="1170000"/>
            <a:ext cx="5302476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Esercizio commerciale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0000" y="1530000"/>
            <a:ext cx="5446476" cy="491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200">
                <a:solidFill>
                  <a:srgbClr val="333333"/>
                </a:solidFill>
                <a:latin typeface="Calibri"/>
              </a:rPr>
              <a:t>1. Incontro di presentazione con Salute Quotidiana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333333"/>
                </a:solidFill>
                <a:latin typeface="Calibri"/>
              </a:rPr>
              <a:t>2. Definizione di fondo e durata del ciclo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333333"/>
                </a:solidFill>
                <a:latin typeface="Calibri"/>
              </a:rPr>
              <a:t>3. Firma del contratto di adesione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333333"/>
                </a:solidFill>
                <a:latin typeface="Calibri"/>
              </a:rPr>
              <a:t>4. Avvio del programma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02476" y="1152000"/>
            <a:ext cx="5446476" cy="324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74476" y="1170000"/>
            <a:ext cx="5302476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Partner / Finanziatore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02476" y="1530000"/>
            <a:ext cx="5446476" cy="491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200">
                <a:solidFill>
                  <a:srgbClr val="333333"/>
                </a:solidFill>
                <a:latin typeface="Calibri"/>
              </a:rPr>
              <a:t>1. Richiesta risultati del pilot a chiusura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333333"/>
                </a:solidFill>
                <a:latin typeface="Calibri"/>
              </a:rPr>
              <a:t>2. Valutazione estensione su uno o più esercizi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333333"/>
                </a:solidFill>
                <a:latin typeface="Calibri"/>
              </a:rPr>
              <a:t>3. Definizione accordo di partnership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333333"/>
                </a:solidFill>
                <a:latin typeface="Calibri"/>
              </a:rPr>
              <a:t>4. Scalabilità concordata con Salute Quotidiana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26000"/>
            <a:ext cx="12188952" cy="432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4000" cy="6858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20000" y="720000"/>
            <a:ext cx="10748952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Un modo diverso di fare promozione locale.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548000"/>
            <a:ext cx="10748952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0E8F0"/>
                </a:solidFill>
                <a:latin typeface="Calibri"/>
              </a:rPr>
              <a:t>Non serve spendere di più. Serve spendere in modo che le persone ricordino.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088000"/>
            <a:ext cx="216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D6A4F"/>
                </a:solidFill>
                <a:latin typeface="Calibri"/>
              </a:rPr>
              <a:t>Credito Salute SQ · Salute Quotidiana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13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revision>1</cp:revision>
  <dcterms:created xsi:type="dcterms:W3CDTF">2013-01-27T09:14:16Z</dcterms:created>
  <dcterms:modified xsi:type="dcterms:W3CDTF">2026-07-15T15:56:54Z</dcterms:modified>
  <cp:category/>
</cp:coreProperties>
</file>